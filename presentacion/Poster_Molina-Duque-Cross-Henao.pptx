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5" r:id="rId1"/>
  </p:sldMasterIdLst>
  <p:notesMasterIdLst>
    <p:notesMasterId r:id="rId3"/>
  </p:notesMasterIdLst>
  <p:handoutMasterIdLst>
    <p:handoutMasterId r:id="rId4"/>
  </p:handoutMasterIdLst>
  <p:sldIdLst>
    <p:sldId id="257" r:id="rId2"/>
  </p:sldIdLst>
  <p:sldSz cx="37463413" cy="21067713"/>
  <p:notesSz cx="6858000" cy="9144000"/>
  <p:defaultTextStyle>
    <a:defPPr>
      <a:defRPr lang="en-US"/>
    </a:defPPr>
    <a:lvl1pPr marL="0" algn="l" defTabSz="2809388" rtl="0" eaLnBrk="1" latinLnBrk="0" hangingPunct="1">
      <a:defRPr sz="5531" kern="1200">
        <a:solidFill>
          <a:schemeClr val="tx1"/>
        </a:solidFill>
        <a:latin typeface="+mn-lt"/>
        <a:ea typeface="+mn-ea"/>
        <a:cs typeface="+mn-cs"/>
      </a:defRPr>
    </a:lvl1pPr>
    <a:lvl2pPr marL="1404694" algn="l" defTabSz="2809388" rtl="0" eaLnBrk="1" latinLnBrk="0" hangingPunct="1">
      <a:defRPr sz="5531" kern="1200">
        <a:solidFill>
          <a:schemeClr val="tx1"/>
        </a:solidFill>
        <a:latin typeface="+mn-lt"/>
        <a:ea typeface="+mn-ea"/>
        <a:cs typeface="+mn-cs"/>
      </a:defRPr>
    </a:lvl2pPr>
    <a:lvl3pPr marL="2809388" algn="l" defTabSz="2809388" rtl="0" eaLnBrk="1" latinLnBrk="0" hangingPunct="1">
      <a:defRPr sz="5531" kern="1200">
        <a:solidFill>
          <a:schemeClr val="tx1"/>
        </a:solidFill>
        <a:latin typeface="+mn-lt"/>
        <a:ea typeface="+mn-ea"/>
        <a:cs typeface="+mn-cs"/>
      </a:defRPr>
    </a:lvl3pPr>
    <a:lvl4pPr marL="4214082" algn="l" defTabSz="2809388" rtl="0" eaLnBrk="1" latinLnBrk="0" hangingPunct="1">
      <a:defRPr sz="5531" kern="1200">
        <a:solidFill>
          <a:schemeClr val="tx1"/>
        </a:solidFill>
        <a:latin typeface="+mn-lt"/>
        <a:ea typeface="+mn-ea"/>
        <a:cs typeface="+mn-cs"/>
      </a:defRPr>
    </a:lvl4pPr>
    <a:lvl5pPr marL="5618776" algn="l" defTabSz="2809388" rtl="0" eaLnBrk="1" latinLnBrk="0" hangingPunct="1">
      <a:defRPr sz="5531" kern="1200">
        <a:solidFill>
          <a:schemeClr val="tx1"/>
        </a:solidFill>
        <a:latin typeface="+mn-lt"/>
        <a:ea typeface="+mn-ea"/>
        <a:cs typeface="+mn-cs"/>
      </a:defRPr>
    </a:lvl5pPr>
    <a:lvl6pPr marL="7023470" algn="l" defTabSz="2809388" rtl="0" eaLnBrk="1" latinLnBrk="0" hangingPunct="1">
      <a:defRPr sz="5531" kern="1200">
        <a:solidFill>
          <a:schemeClr val="tx1"/>
        </a:solidFill>
        <a:latin typeface="+mn-lt"/>
        <a:ea typeface="+mn-ea"/>
        <a:cs typeface="+mn-cs"/>
      </a:defRPr>
    </a:lvl6pPr>
    <a:lvl7pPr marL="8428163" algn="l" defTabSz="2809388" rtl="0" eaLnBrk="1" latinLnBrk="0" hangingPunct="1">
      <a:defRPr sz="5531" kern="1200">
        <a:solidFill>
          <a:schemeClr val="tx1"/>
        </a:solidFill>
        <a:latin typeface="+mn-lt"/>
        <a:ea typeface="+mn-ea"/>
        <a:cs typeface="+mn-cs"/>
      </a:defRPr>
    </a:lvl7pPr>
    <a:lvl8pPr marL="9832858" algn="l" defTabSz="2809388" rtl="0" eaLnBrk="1" latinLnBrk="0" hangingPunct="1">
      <a:defRPr sz="5531" kern="1200">
        <a:solidFill>
          <a:schemeClr val="tx1"/>
        </a:solidFill>
        <a:latin typeface="+mn-lt"/>
        <a:ea typeface="+mn-ea"/>
        <a:cs typeface="+mn-cs"/>
      </a:defRPr>
    </a:lvl8pPr>
    <a:lvl9pPr marL="11237552" algn="l" defTabSz="2809388" rtl="0" eaLnBrk="1" latinLnBrk="0" hangingPunct="1">
      <a:defRPr sz="5531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32" userDrawn="1">
          <p15:clr>
            <a:srgbClr val="A4A3A4"/>
          </p15:clr>
        </p15:guide>
        <p15:guide id="2" orient="horz" pos="3396" userDrawn="1">
          <p15:clr>
            <a:srgbClr val="A4A3A4"/>
          </p15:clr>
        </p15:guide>
        <p15:guide id="3" pos="23056" userDrawn="1">
          <p15:clr>
            <a:srgbClr val="A4A3A4"/>
          </p15:clr>
        </p15:guide>
        <p15:guide id="4" pos="520" userDrawn="1">
          <p15:clr>
            <a:srgbClr val="A4A3A4"/>
          </p15:clr>
        </p15:guide>
        <p15:guide id="5" pos="5848" userDrawn="1">
          <p15:clr>
            <a:srgbClr val="A4A3A4"/>
          </p15:clr>
        </p15:guide>
        <p15:guide id="6" pos="6232" userDrawn="1">
          <p15:clr>
            <a:srgbClr val="A4A3A4"/>
          </p15:clr>
        </p15:guide>
        <p15:guide id="7" pos="11608" userDrawn="1">
          <p15:clr>
            <a:srgbClr val="A4A3A4"/>
          </p15:clr>
        </p15:guide>
        <p15:guide id="8" pos="11992" userDrawn="1">
          <p15:clr>
            <a:srgbClr val="A4A3A4"/>
          </p15:clr>
        </p15:guide>
        <p15:guide id="9" pos="17368" userDrawn="1">
          <p15:clr>
            <a:srgbClr val="A4A3A4"/>
          </p15:clr>
        </p15:guide>
        <p15:guide id="10" pos="17752" userDrawn="1">
          <p15:clr>
            <a:srgbClr val="A4A3A4"/>
          </p15:clr>
        </p15:guide>
        <p15:guide id="11" orient="horz" pos="12684" userDrawn="1">
          <p15:clr>
            <a:srgbClr val="A4A3A4"/>
          </p15:clr>
        </p15:guide>
        <p15:guide id="12" orient="horz" pos="36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634"/>
    <p:restoredTop sz="94655"/>
  </p:normalViewPr>
  <p:slideViewPr>
    <p:cSldViewPr snapToGrid="0" snapToObjects="1">
      <p:cViewPr varScale="1">
        <p:scale>
          <a:sx n="36" d="100"/>
          <a:sy n="36" d="100"/>
        </p:scale>
        <p:origin x="1020" y="132"/>
      </p:cViewPr>
      <p:guideLst>
        <p:guide orient="horz" pos="3132"/>
        <p:guide orient="horz" pos="3396"/>
        <p:guide pos="23056"/>
        <p:guide pos="520"/>
        <p:guide pos="5848"/>
        <p:guide pos="6232"/>
        <p:guide pos="11608"/>
        <p:guide pos="11992"/>
        <p:guide pos="17368"/>
        <p:guide pos="17752"/>
        <p:guide orient="horz" pos="12684"/>
        <p:guide orient="horz" pos="36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93" d="100"/>
          <a:sy n="93" d="100"/>
        </p:scale>
        <p:origin x="3784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836533-E22B-2B4C-B5E8-F902600A42DB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BDD426-1ACA-1E4C-AE87-A547C473B7D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2786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386D7A-222B-BC4E-982C-46748DC477C8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F0EF6E-EB4E-C743-B793-CD7D10150F8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1806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F0EF6E-EB4E-C743-B793-CD7D10150F8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197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9"/>
          <p:cNvCxnSpPr>
            <a:cxnSpLocks noChangeShapeType="1"/>
          </p:cNvCxnSpPr>
          <p:nvPr userDrawn="1"/>
        </p:nvCxnSpPr>
        <p:spPr bwMode="auto">
          <a:xfrm>
            <a:off x="9651761" y="5500608"/>
            <a:ext cx="780488" cy="585214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cxnSp>
      <p:cxnSp>
        <p:nvCxnSpPr>
          <p:cNvPr id="11" name="Straight Connector 10"/>
          <p:cNvCxnSpPr/>
          <p:nvPr userDrawn="1"/>
        </p:nvCxnSpPr>
        <p:spPr bwMode="auto">
          <a:xfrm>
            <a:off x="27837479" y="4396930"/>
            <a:ext cx="0" cy="14255496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dash"/>
            <a:round/>
            <a:headEnd type="oval" w="med" len="med"/>
            <a:tailEnd type="oval" w="med" len="med"/>
          </a:ln>
          <a:effectLst/>
        </p:spPr>
      </p:cxnSp>
      <p:sp>
        <p:nvSpPr>
          <p:cNvPr id="12" name="Content Placeholder 9"/>
          <p:cNvSpPr>
            <a:spLocks noGrp="1"/>
          </p:cNvSpPr>
          <p:nvPr>
            <p:ph sz="quarter" idx="10"/>
          </p:nvPr>
        </p:nvSpPr>
        <p:spPr>
          <a:xfrm>
            <a:off x="780489" y="4728266"/>
            <a:ext cx="8058712" cy="8449539"/>
          </a:xfrm>
          <a:prstGeom prst="rect">
            <a:avLst/>
          </a:prstGeom>
        </p:spPr>
        <p:txBody>
          <a:bodyPr/>
          <a:lstStyle>
            <a:lvl1pPr>
              <a:lnSpc>
                <a:spcPts val="4600"/>
              </a:lnSpc>
              <a:spcBef>
                <a:spcPts val="0"/>
              </a:spcBef>
              <a:defRPr sz="2800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1pPr>
            <a:lvl2pPr>
              <a:lnSpc>
                <a:spcPts val="4600"/>
              </a:lnSpc>
              <a:spcBef>
                <a:spcPts val="0"/>
              </a:spcBef>
              <a:defRPr sz="2800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2pPr>
            <a:lvl3pPr>
              <a:lnSpc>
                <a:spcPts val="4600"/>
              </a:lnSpc>
              <a:spcBef>
                <a:spcPts val="0"/>
              </a:spcBef>
              <a:defRPr sz="2800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3pPr>
            <a:lvl4pPr>
              <a:lnSpc>
                <a:spcPts val="4600"/>
              </a:lnSpc>
              <a:spcBef>
                <a:spcPts val="0"/>
              </a:spcBef>
              <a:defRPr sz="2800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4pPr>
            <a:lvl5pPr marL="2286000" indent="-457200">
              <a:lnSpc>
                <a:spcPts val="4600"/>
              </a:lnSpc>
              <a:spcBef>
                <a:spcPts val="0"/>
              </a:spcBef>
              <a:buClr>
                <a:srgbClr val="245EAC"/>
              </a:buClr>
              <a:buFont typeface="Arial" charset="0"/>
              <a:buChar char="•"/>
              <a:defRPr sz="2800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780488" y="13627361"/>
            <a:ext cx="8086421" cy="4769496"/>
          </a:xfrm>
          <a:prstGeom prst="rect">
            <a:avLst/>
          </a:prstGeom>
          <a:solidFill>
            <a:schemeClr val="bg2">
              <a:lumMod val="85000"/>
            </a:schemeClr>
          </a:solidFill>
        </p:spPr>
        <p:txBody>
          <a:bodyPr/>
          <a:lstStyle>
            <a:lvl1pPr marL="0" indent="0" algn="ctr">
              <a:buNone/>
              <a:defRPr sz="1800" b="1" i="0"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sz="quarter" idx="17"/>
          </p:nvPr>
        </p:nvSpPr>
        <p:spPr>
          <a:xfrm>
            <a:off x="28333331" y="10016713"/>
            <a:ext cx="8363143" cy="4769496"/>
          </a:xfrm>
          <a:prstGeom prst="rect">
            <a:avLst/>
          </a:prstGeom>
          <a:solidFill>
            <a:schemeClr val="bg2">
              <a:lumMod val="85000"/>
            </a:schemeClr>
          </a:solidFill>
        </p:spPr>
        <p:txBody>
          <a:bodyPr/>
          <a:lstStyle>
            <a:lvl1pPr marL="0" indent="0" algn="ctr">
              <a:buNone/>
              <a:defRPr sz="1800" b="1" i="0"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indent="0" algn="ctr">
              <a:buNone/>
            </a:pPr>
            <a:endParaRPr lang="en-US" dirty="0"/>
          </a:p>
        </p:txBody>
      </p:sp>
      <p:sp>
        <p:nvSpPr>
          <p:cNvPr id="15" name="Content Placeholder 9"/>
          <p:cNvSpPr>
            <a:spLocks noGrp="1"/>
          </p:cNvSpPr>
          <p:nvPr>
            <p:ph sz="quarter" idx="18"/>
          </p:nvPr>
        </p:nvSpPr>
        <p:spPr>
          <a:xfrm>
            <a:off x="9670473" y="4728265"/>
            <a:ext cx="8478981" cy="13654586"/>
          </a:xfrm>
          <a:prstGeom prst="rect">
            <a:avLst/>
          </a:prstGeom>
        </p:spPr>
        <p:txBody>
          <a:bodyPr/>
          <a:lstStyle>
            <a:lvl1pPr>
              <a:lnSpc>
                <a:spcPts val="4600"/>
              </a:lnSpc>
              <a:spcBef>
                <a:spcPts val="0"/>
              </a:spcBef>
              <a:defRPr sz="2800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1pPr>
            <a:lvl2pPr>
              <a:lnSpc>
                <a:spcPts val="4600"/>
              </a:lnSpc>
              <a:spcBef>
                <a:spcPts val="0"/>
              </a:spcBef>
              <a:defRPr sz="2800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2pPr>
            <a:lvl3pPr>
              <a:lnSpc>
                <a:spcPts val="4600"/>
              </a:lnSpc>
              <a:spcBef>
                <a:spcPts val="0"/>
              </a:spcBef>
              <a:defRPr sz="2800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3pPr>
            <a:lvl4pPr>
              <a:lnSpc>
                <a:spcPts val="4600"/>
              </a:lnSpc>
              <a:spcBef>
                <a:spcPts val="0"/>
              </a:spcBef>
              <a:defRPr sz="2800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4pPr>
            <a:lvl5pPr marL="2286000" indent="-457200">
              <a:lnSpc>
                <a:spcPts val="4600"/>
              </a:lnSpc>
              <a:spcBef>
                <a:spcPts val="0"/>
              </a:spcBef>
              <a:buClr>
                <a:srgbClr val="245EAC"/>
              </a:buClr>
              <a:buFont typeface="Arial" charset="0"/>
              <a:buChar char="•"/>
              <a:defRPr sz="2800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Content Placeholder 9"/>
          <p:cNvSpPr>
            <a:spLocks noGrp="1"/>
          </p:cNvSpPr>
          <p:nvPr>
            <p:ph sz="quarter" idx="19"/>
          </p:nvPr>
        </p:nvSpPr>
        <p:spPr>
          <a:xfrm>
            <a:off x="18953018" y="4730482"/>
            <a:ext cx="8451273" cy="4464475"/>
          </a:xfrm>
          <a:prstGeom prst="rect">
            <a:avLst/>
          </a:prstGeom>
        </p:spPr>
        <p:txBody>
          <a:bodyPr/>
          <a:lstStyle>
            <a:lvl1pPr>
              <a:lnSpc>
                <a:spcPts val="4600"/>
              </a:lnSpc>
              <a:spcBef>
                <a:spcPts val="0"/>
              </a:spcBef>
              <a:defRPr sz="2800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1pPr>
            <a:lvl2pPr>
              <a:lnSpc>
                <a:spcPts val="4600"/>
              </a:lnSpc>
              <a:spcBef>
                <a:spcPts val="0"/>
              </a:spcBef>
              <a:defRPr sz="2800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2pPr>
            <a:lvl3pPr>
              <a:lnSpc>
                <a:spcPts val="4600"/>
              </a:lnSpc>
              <a:spcBef>
                <a:spcPts val="0"/>
              </a:spcBef>
              <a:defRPr sz="2800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3pPr>
            <a:lvl4pPr>
              <a:lnSpc>
                <a:spcPts val="4600"/>
              </a:lnSpc>
              <a:spcBef>
                <a:spcPts val="0"/>
              </a:spcBef>
              <a:defRPr sz="2800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4pPr>
            <a:lvl5pPr marL="2286000" indent="-457200">
              <a:lnSpc>
                <a:spcPts val="4600"/>
              </a:lnSpc>
              <a:spcBef>
                <a:spcPts val="0"/>
              </a:spcBef>
              <a:buClr>
                <a:srgbClr val="245EAC"/>
              </a:buClr>
              <a:buFont typeface="Arial" charset="0"/>
              <a:buChar char="•"/>
              <a:defRPr sz="2800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Content Placeholder 9"/>
          <p:cNvSpPr>
            <a:spLocks noGrp="1"/>
          </p:cNvSpPr>
          <p:nvPr>
            <p:ph sz="quarter" idx="20"/>
          </p:nvPr>
        </p:nvSpPr>
        <p:spPr>
          <a:xfrm>
            <a:off x="28314050" y="4728267"/>
            <a:ext cx="8363143" cy="4914497"/>
          </a:xfrm>
          <a:prstGeom prst="rect">
            <a:avLst/>
          </a:prstGeom>
        </p:spPr>
        <p:txBody>
          <a:bodyPr/>
          <a:lstStyle>
            <a:lvl1pPr>
              <a:lnSpc>
                <a:spcPts val="4600"/>
              </a:lnSpc>
              <a:spcBef>
                <a:spcPts val="0"/>
              </a:spcBef>
              <a:defRPr sz="2800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1pPr>
            <a:lvl2pPr>
              <a:lnSpc>
                <a:spcPts val="4600"/>
              </a:lnSpc>
              <a:spcBef>
                <a:spcPts val="0"/>
              </a:spcBef>
              <a:defRPr sz="2800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2pPr>
            <a:lvl3pPr>
              <a:lnSpc>
                <a:spcPts val="4600"/>
              </a:lnSpc>
              <a:spcBef>
                <a:spcPts val="0"/>
              </a:spcBef>
              <a:defRPr sz="2800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3pPr>
            <a:lvl4pPr>
              <a:lnSpc>
                <a:spcPts val="4600"/>
              </a:lnSpc>
              <a:spcBef>
                <a:spcPts val="0"/>
              </a:spcBef>
              <a:defRPr sz="2800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4pPr>
            <a:lvl5pPr marL="2286000" indent="-457200">
              <a:lnSpc>
                <a:spcPts val="4600"/>
              </a:lnSpc>
              <a:spcBef>
                <a:spcPts val="0"/>
              </a:spcBef>
              <a:buClr>
                <a:srgbClr val="245EAC"/>
              </a:buClr>
              <a:buFont typeface="Arial" charset="0"/>
              <a:buChar char="•"/>
              <a:defRPr sz="2800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9"/>
          <p:cNvSpPr>
            <a:spLocks noGrp="1"/>
          </p:cNvSpPr>
          <p:nvPr>
            <p:ph sz="quarter" idx="21"/>
          </p:nvPr>
        </p:nvSpPr>
        <p:spPr>
          <a:xfrm>
            <a:off x="28340791" y="15186116"/>
            <a:ext cx="8363143" cy="2977194"/>
          </a:xfrm>
          <a:prstGeom prst="rect">
            <a:avLst/>
          </a:prstGeom>
        </p:spPr>
        <p:txBody>
          <a:bodyPr/>
          <a:lstStyle>
            <a:lvl1pPr>
              <a:lnSpc>
                <a:spcPts val="4600"/>
              </a:lnSpc>
              <a:spcBef>
                <a:spcPts val="0"/>
              </a:spcBef>
              <a:defRPr sz="2800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1pPr>
            <a:lvl2pPr>
              <a:lnSpc>
                <a:spcPts val="4600"/>
              </a:lnSpc>
              <a:spcBef>
                <a:spcPts val="0"/>
              </a:spcBef>
              <a:defRPr sz="2800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2pPr>
            <a:lvl3pPr>
              <a:lnSpc>
                <a:spcPts val="4600"/>
              </a:lnSpc>
              <a:spcBef>
                <a:spcPts val="0"/>
              </a:spcBef>
              <a:defRPr sz="2800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3pPr>
            <a:lvl4pPr>
              <a:lnSpc>
                <a:spcPts val="4600"/>
              </a:lnSpc>
              <a:spcBef>
                <a:spcPts val="0"/>
              </a:spcBef>
              <a:defRPr sz="2800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4pPr>
            <a:lvl5pPr marL="2286000" indent="-457200">
              <a:lnSpc>
                <a:spcPts val="4600"/>
              </a:lnSpc>
              <a:spcBef>
                <a:spcPts val="0"/>
              </a:spcBef>
              <a:buClr>
                <a:srgbClr val="245EAC"/>
              </a:buClr>
              <a:buFont typeface="Arial" charset="0"/>
              <a:buChar char="•"/>
              <a:defRPr sz="2800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Chart Placeholder 23"/>
          <p:cNvSpPr>
            <a:spLocks noGrp="1"/>
          </p:cNvSpPr>
          <p:nvPr>
            <p:ph type="chart" sz="quarter" idx="22"/>
          </p:nvPr>
        </p:nvSpPr>
        <p:spPr>
          <a:xfrm>
            <a:off x="19008436" y="9601401"/>
            <a:ext cx="8451273" cy="371921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</a:lstStyle>
          <a:p>
            <a:endParaRPr lang="en-US" dirty="0"/>
          </a:p>
        </p:txBody>
      </p:sp>
      <p:sp>
        <p:nvSpPr>
          <p:cNvPr id="20" name="Content Placeholder 9"/>
          <p:cNvSpPr>
            <a:spLocks noGrp="1"/>
          </p:cNvSpPr>
          <p:nvPr>
            <p:ph sz="quarter" idx="23"/>
          </p:nvPr>
        </p:nvSpPr>
        <p:spPr>
          <a:xfrm>
            <a:off x="18980727" y="13837496"/>
            <a:ext cx="8423564" cy="4466492"/>
          </a:xfrm>
          <a:prstGeom prst="rect">
            <a:avLst/>
          </a:prstGeom>
        </p:spPr>
        <p:txBody>
          <a:bodyPr/>
          <a:lstStyle>
            <a:lvl1pPr>
              <a:lnSpc>
                <a:spcPts val="4600"/>
              </a:lnSpc>
              <a:spcBef>
                <a:spcPts val="0"/>
              </a:spcBef>
              <a:defRPr sz="2800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1pPr>
            <a:lvl2pPr>
              <a:lnSpc>
                <a:spcPts val="4600"/>
              </a:lnSpc>
              <a:spcBef>
                <a:spcPts val="0"/>
              </a:spcBef>
              <a:defRPr sz="2800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2pPr>
            <a:lvl3pPr>
              <a:lnSpc>
                <a:spcPts val="4600"/>
              </a:lnSpc>
              <a:spcBef>
                <a:spcPts val="0"/>
              </a:spcBef>
              <a:defRPr sz="2800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3pPr>
            <a:lvl4pPr>
              <a:lnSpc>
                <a:spcPts val="4600"/>
              </a:lnSpc>
              <a:spcBef>
                <a:spcPts val="0"/>
              </a:spcBef>
              <a:defRPr sz="2800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4pPr>
            <a:lvl5pPr marL="2286000" indent="-457200">
              <a:lnSpc>
                <a:spcPts val="4600"/>
              </a:lnSpc>
              <a:spcBef>
                <a:spcPts val="0"/>
              </a:spcBef>
              <a:buClr>
                <a:srgbClr val="245EAC"/>
              </a:buClr>
              <a:buFont typeface="Arial" charset="0"/>
              <a:buChar char="•"/>
              <a:defRPr sz="2800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1" name="Straight Connector 20"/>
          <p:cNvCxnSpPr/>
          <p:nvPr userDrawn="1"/>
        </p:nvCxnSpPr>
        <p:spPr bwMode="auto">
          <a:xfrm>
            <a:off x="18566246" y="4396930"/>
            <a:ext cx="54263" cy="14255496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dash"/>
            <a:round/>
            <a:headEnd type="oval" w="med" len="med"/>
            <a:tailEnd type="oval" w="med" len="med"/>
          </a:ln>
          <a:effectLst/>
        </p:spPr>
      </p:cxnSp>
      <p:cxnSp>
        <p:nvCxnSpPr>
          <p:cNvPr id="26" name="Straight Connector 25"/>
          <p:cNvCxnSpPr/>
          <p:nvPr userDrawn="1"/>
        </p:nvCxnSpPr>
        <p:spPr bwMode="auto">
          <a:xfrm>
            <a:off x="9271651" y="4396930"/>
            <a:ext cx="0" cy="14251288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dash"/>
            <a:round/>
            <a:headEnd type="oval" w="med" len="med"/>
            <a:tailEnd type="oval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174817725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6"/>
          <p:cNvSpPr>
            <a:spLocks noChangeArrowheads="1"/>
          </p:cNvSpPr>
          <p:nvPr userDrawn="1"/>
        </p:nvSpPr>
        <p:spPr bwMode="auto">
          <a:xfrm>
            <a:off x="0" y="-29964"/>
            <a:ext cx="34098807" cy="3512576"/>
          </a:xfrm>
          <a:prstGeom prst="rect">
            <a:avLst/>
          </a:prstGeom>
          <a:solidFill>
            <a:srgbClr val="002060"/>
          </a:solidFill>
          <a:ln w="9525">
            <a:solidFill>
              <a:srgbClr val="002060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 eaLnBrk="0" hangingPunct="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1pPr>
            <a:lvl2pPr marL="37931725" indent="-37474525" eaLnBrk="0" hangingPunct="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2pPr>
            <a:lvl3pPr eaLnBrk="0" hangingPunct="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3pPr>
            <a:lvl4pPr eaLnBrk="0" hangingPunct="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4pPr>
            <a:lvl5pPr eaLnBrk="0" hangingPunct="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9pPr>
          </a:lstStyle>
          <a:p>
            <a:pPr eaLnBrk="1" hangingPunct="1">
              <a:defRPr/>
            </a:pPr>
            <a:endParaRPr lang="en-US" altLang="en-US" b="0" i="0" baseline="0" dirty="0">
              <a:solidFill>
                <a:schemeClr val="tx1"/>
              </a:solidFill>
              <a:latin typeface="Arial" charset="0"/>
              <a:ea typeface="Arial" charset="0"/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-1" y="3478193"/>
            <a:ext cx="37463413" cy="1809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658" y="19690451"/>
            <a:ext cx="10725451" cy="795436"/>
          </a:xfrm>
          <a:prstGeom prst="rect">
            <a:avLst/>
          </a:prstGeom>
        </p:spPr>
      </p:pic>
      <p:cxnSp>
        <p:nvCxnSpPr>
          <p:cNvPr id="14" name="Straight Connector 13"/>
          <p:cNvCxnSpPr/>
          <p:nvPr userDrawn="1"/>
        </p:nvCxnSpPr>
        <p:spPr>
          <a:xfrm>
            <a:off x="28194626" y="19527805"/>
            <a:ext cx="0" cy="1063256"/>
          </a:xfrm>
          <a:prstGeom prst="line">
            <a:avLst/>
          </a:prstGeom>
          <a:ln w="25400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C2F7D664-F077-4B7E-BD60-C8EF11A779D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4098807" y="-55694"/>
            <a:ext cx="3364606" cy="3526367"/>
          </a:xfrm>
          <a:prstGeom prst="rect">
            <a:avLst/>
          </a:prstGeom>
        </p:spPr>
      </p:pic>
      <p:sp>
        <p:nvSpPr>
          <p:cNvPr id="9" name="Rectangle 36">
            <a:extLst>
              <a:ext uri="{FF2B5EF4-FFF2-40B4-BE49-F238E27FC236}">
                <a16:creationId xmlns:a16="http://schemas.microsoft.com/office/drawing/2014/main" id="{51021623-D1FE-F5A6-5DB3-F11B3CF4986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16626" y="18853265"/>
            <a:ext cx="37463414" cy="2214448"/>
          </a:xfrm>
          <a:prstGeom prst="rect">
            <a:avLst/>
          </a:prstGeom>
          <a:solidFill>
            <a:srgbClr val="002060"/>
          </a:solidFill>
          <a:ln w="9525">
            <a:solidFill>
              <a:srgbClr val="002060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 eaLnBrk="0" hangingPunct="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1pPr>
            <a:lvl2pPr marL="37931725" indent="-37474525" eaLnBrk="0" hangingPunct="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2pPr>
            <a:lvl3pPr eaLnBrk="0" hangingPunct="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3pPr>
            <a:lvl4pPr eaLnBrk="0" hangingPunct="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4pPr>
            <a:lvl5pPr eaLnBrk="0" hangingPunct="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9pPr>
          </a:lstStyle>
          <a:p>
            <a:pPr eaLnBrk="1" hangingPunct="1">
              <a:defRPr/>
            </a:pPr>
            <a:endParaRPr lang="en-US" altLang="en-US" b="0" i="0" baseline="0" dirty="0">
              <a:solidFill>
                <a:schemeClr val="bg1"/>
              </a:solidFill>
              <a:latin typeface="Arial" charset="0"/>
              <a:ea typeface="Arial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C5B4384-E0E1-7693-62DD-77D3CC419304}"/>
              </a:ext>
            </a:extLst>
          </p:cNvPr>
          <p:cNvSpPr txBox="1"/>
          <p:nvPr userDrawn="1"/>
        </p:nvSpPr>
        <p:spPr>
          <a:xfrm>
            <a:off x="166256" y="19397713"/>
            <a:ext cx="1373164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4000" noProof="0" dirty="0">
                <a:solidFill>
                  <a:schemeClr val="bg1"/>
                </a:solidFill>
              </a:rPr>
              <a:t>Departamento de Ciencias de la Computación y la Decisión</a:t>
            </a:r>
          </a:p>
          <a:p>
            <a:r>
              <a:rPr lang="es-CO" sz="4000" noProof="0" dirty="0">
                <a:solidFill>
                  <a:schemeClr val="bg1"/>
                </a:solidFill>
              </a:rPr>
              <a:t>Facultad de Minas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7DD991B-3F96-6724-368F-89A63B5E0D0E}"/>
              </a:ext>
            </a:extLst>
          </p:cNvPr>
          <p:cNvSpPr txBox="1"/>
          <p:nvPr userDrawn="1"/>
        </p:nvSpPr>
        <p:spPr>
          <a:xfrm>
            <a:off x="31135029" y="19298769"/>
            <a:ext cx="597477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s-CO" sz="4000" noProof="0" dirty="0">
                <a:solidFill>
                  <a:schemeClr val="bg1"/>
                </a:solidFill>
              </a:rPr>
              <a:t>Aprendizaje de Máquinas</a:t>
            </a:r>
          </a:p>
          <a:p>
            <a:pPr algn="r"/>
            <a:r>
              <a:rPr lang="es-CO" sz="4000" noProof="0" dirty="0">
                <a:solidFill>
                  <a:schemeClr val="bg1"/>
                </a:solidFill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258514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</p:sldLayoutIdLst>
  <p:txStyles>
    <p:titleStyle>
      <a:lvl1pPr algn="l" defTabSz="2809037" rtl="0" eaLnBrk="1" latinLnBrk="0" hangingPunct="1">
        <a:lnSpc>
          <a:spcPct val="90000"/>
        </a:lnSpc>
        <a:spcBef>
          <a:spcPct val="0"/>
        </a:spcBef>
        <a:buNone/>
        <a:defRPr sz="1351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02259" indent="-702259" algn="l" defTabSz="2809037" rtl="0" eaLnBrk="1" latinLnBrk="0" hangingPunct="1">
        <a:lnSpc>
          <a:spcPct val="90000"/>
        </a:lnSpc>
        <a:spcBef>
          <a:spcPts val="3072"/>
        </a:spcBef>
        <a:buFont typeface="Arial" panose="020B0604020202020204" pitchFamily="34" charset="0"/>
        <a:buChar char="•"/>
        <a:defRPr sz="8602" kern="1200">
          <a:solidFill>
            <a:schemeClr val="tx1"/>
          </a:solidFill>
          <a:latin typeface="+mn-lt"/>
          <a:ea typeface="+mn-ea"/>
          <a:cs typeface="+mn-cs"/>
        </a:defRPr>
      </a:lvl1pPr>
      <a:lvl2pPr marL="2106778" indent="-702259" algn="l" defTabSz="2809037" rtl="0" eaLnBrk="1" latinLnBrk="0" hangingPunct="1">
        <a:lnSpc>
          <a:spcPct val="90000"/>
        </a:lnSpc>
        <a:spcBef>
          <a:spcPts val="1536"/>
        </a:spcBef>
        <a:buFont typeface="Arial" panose="020B0604020202020204" pitchFamily="34" charset="0"/>
        <a:buChar char="•"/>
        <a:defRPr sz="7373" kern="1200">
          <a:solidFill>
            <a:schemeClr val="tx1"/>
          </a:solidFill>
          <a:latin typeface="+mn-lt"/>
          <a:ea typeface="+mn-ea"/>
          <a:cs typeface="+mn-cs"/>
        </a:defRPr>
      </a:lvl2pPr>
      <a:lvl3pPr marL="3511296" indent="-702259" algn="l" defTabSz="2809037" rtl="0" eaLnBrk="1" latinLnBrk="0" hangingPunct="1">
        <a:lnSpc>
          <a:spcPct val="90000"/>
        </a:lnSpc>
        <a:spcBef>
          <a:spcPts val="1536"/>
        </a:spcBef>
        <a:buFont typeface="Arial" panose="020B0604020202020204" pitchFamily="34" charset="0"/>
        <a:buChar char="•"/>
        <a:defRPr sz="6144" kern="1200">
          <a:solidFill>
            <a:schemeClr val="tx1"/>
          </a:solidFill>
          <a:latin typeface="+mn-lt"/>
          <a:ea typeface="+mn-ea"/>
          <a:cs typeface="+mn-cs"/>
        </a:defRPr>
      </a:lvl3pPr>
      <a:lvl4pPr marL="4915814" indent="-702259" algn="l" defTabSz="2809037" rtl="0" eaLnBrk="1" latinLnBrk="0" hangingPunct="1">
        <a:lnSpc>
          <a:spcPct val="90000"/>
        </a:lnSpc>
        <a:spcBef>
          <a:spcPts val="1536"/>
        </a:spcBef>
        <a:buFont typeface="Arial" panose="020B0604020202020204" pitchFamily="34" charset="0"/>
        <a:buChar char="•"/>
        <a:defRPr sz="5530" kern="1200">
          <a:solidFill>
            <a:schemeClr val="tx1"/>
          </a:solidFill>
          <a:latin typeface="+mn-lt"/>
          <a:ea typeface="+mn-ea"/>
          <a:cs typeface="+mn-cs"/>
        </a:defRPr>
      </a:lvl4pPr>
      <a:lvl5pPr marL="6320333" indent="-702259" algn="l" defTabSz="2809037" rtl="0" eaLnBrk="1" latinLnBrk="0" hangingPunct="1">
        <a:lnSpc>
          <a:spcPct val="90000"/>
        </a:lnSpc>
        <a:spcBef>
          <a:spcPts val="1536"/>
        </a:spcBef>
        <a:buFont typeface="Arial" panose="020B0604020202020204" pitchFamily="34" charset="0"/>
        <a:buChar char="•"/>
        <a:defRPr sz="5530" kern="1200">
          <a:solidFill>
            <a:schemeClr val="tx1"/>
          </a:solidFill>
          <a:latin typeface="+mn-lt"/>
          <a:ea typeface="+mn-ea"/>
          <a:cs typeface="+mn-cs"/>
        </a:defRPr>
      </a:lvl5pPr>
      <a:lvl6pPr marL="7724851" indent="-702259" algn="l" defTabSz="2809037" rtl="0" eaLnBrk="1" latinLnBrk="0" hangingPunct="1">
        <a:lnSpc>
          <a:spcPct val="90000"/>
        </a:lnSpc>
        <a:spcBef>
          <a:spcPts val="1536"/>
        </a:spcBef>
        <a:buFont typeface="Arial" panose="020B0604020202020204" pitchFamily="34" charset="0"/>
        <a:buChar char="•"/>
        <a:defRPr sz="5530" kern="1200">
          <a:solidFill>
            <a:schemeClr val="tx1"/>
          </a:solidFill>
          <a:latin typeface="+mn-lt"/>
          <a:ea typeface="+mn-ea"/>
          <a:cs typeface="+mn-cs"/>
        </a:defRPr>
      </a:lvl6pPr>
      <a:lvl7pPr marL="9129370" indent="-702259" algn="l" defTabSz="2809037" rtl="0" eaLnBrk="1" latinLnBrk="0" hangingPunct="1">
        <a:lnSpc>
          <a:spcPct val="90000"/>
        </a:lnSpc>
        <a:spcBef>
          <a:spcPts val="1536"/>
        </a:spcBef>
        <a:buFont typeface="Arial" panose="020B0604020202020204" pitchFamily="34" charset="0"/>
        <a:buChar char="•"/>
        <a:defRPr sz="5530" kern="1200">
          <a:solidFill>
            <a:schemeClr val="tx1"/>
          </a:solidFill>
          <a:latin typeface="+mn-lt"/>
          <a:ea typeface="+mn-ea"/>
          <a:cs typeface="+mn-cs"/>
        </a:defRPr>
      </a:lvl7pPr>
      <a:lvl8pPr marL="10533888" indent="-702259" algn="l" defTabSz="2809037" rtl="0" eaLnBrk="1" latinLnBrk="0" hangingPunct="1">
        <a:lnSpc>
          <a:spcPct val="90000"/>
        </a:lnSpc>
        <a:spcBef>
          <a:spcPts val="1536"/>
        </a:spcBef>
        <a:buFont typeface="Arial" panose="020B0604020202020204" pitchFamily="34" charset="0"/>
        <a:buChar char="•"/>
        <a:defRPr sz="5530" kern="1200">
          <a:solidFill>
            <a:schemeClr val="tx1"/>
          </a:solidFill>
          <a:latin typeface="+mn-lt"/>
          <a:ea typeface="+mn-ea"/>
          <a:cs typeface="+mn-cs"/>
        </a:defRPr>
      </a:lvl8pPr>
      <a:lvl9pPr marL="11938406" indent="-702259" algn="l" defTabSz="2809037" rtl="0" eaLnBrk="1" latinLnBrk="0" hangingPunct="1">
        <a:lnSpc>
          <a:spcPct val="90000"/>
        </a:lnSpc>
        <a:spcBef>
          <a:spcPts val="1536"/>
        </a:spcBef>
        <a:buFont typeface="Arial" panose="020B0604020202020204" pitchFamily="34" charset="0"/>
        <a:buChar char="•"/>
        <a:defRPr sz="55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809037" rtl="0" eaLnBrk="1" latinLnBrk="0" hangingPunct="1">
        <a:defRPr sz="5530" kern="1200">
          <a:solidFill>
            <a:schemeClr val="tx1"/>
          </a:solidFill>
          <a:latin typeface="+mn-lt"/>
          <a:ea typeface="+mn-ea"/>
          <a:cs typeface="+mn-cs"/>
        </a:defRPr>
      </a:lvl1pPr>
      <a:lvl2pPr marL="1404518" algn="l" defTabSz="2809037" rtl="0" eaLnBrk="1" latinLnBrk="0" hangingPunct="1">
        <a:defRPr sz="5530" kern="1200">
          <a:solidFill>
            <a:schemeClr val="tx1"/>
          </a:solidFill>
          <a:latin typeface="+mn-lt"/>
          <a:ea typeface="+mn-ea"/>
          <a:cs typeface="+mn-cs"/>
        </a:defRPr>
      </a:lvl2pPr>
      <a:lvl3pPr marL="2809037" algn="l" defTabSz="2809037" rtl="0" eaLnBrk="1" latinLnBrk="0" hangingPunct="1">
        <a:defRPr sz="5530" kern="1200">
          <a:solidFill>
            <a:schemeClr val="tx1"/>
          </a:solidFill>
          <a:latin typeface="+mn-lt"/>
          <a:ea typeface="+mn-ea"/>
          <a:cs typeface="+mn-cs"/>
        </a:defRPr>
      </a:lvl3pPr>
      <a:lvl4pPr marL="4213555" algn="l" defTabSz="2809037" rtl="0" eaLnBrk="1" latinLnBrk="0" hangingPunct="1">
        <a:defRPr sz="5530" kern="1200">
          <a:solidFill>
            <a:schemeClr val="tx1"/>
          </a:solidFill>
          <a:latin typeface="+mn-lt"/>
          <a:ea typeface="+mn-ea"/>
          <a:cs typeface="+mn-cs"/>
        </a:defRPr>
      </a:lvl4pPr>
      <a:lvl5pPr marL="5618074" algn="l" defTabSz="2809037" rtl="0" eaLnBrk="1" latinLnBrk="0" hangingPunct="1">
        <a:defRPr sz="5530" kern="1200">
          <a:solidFill>
            <a:schemeClr val="tx1"/>
          </a:solidFill>
          <a:latin typeface="+mn-lt"/>
          <a:ea typeface="+mn-ea"/>
          <a:cs typeface="+mn-cs"/>
        </a:defRPr>
      </a:lvl5pPr>
      <a:lvl6pPr marL="7022592" algn="l" defTabSz="2809037" rtl="0" eaLnBrk="1" latinLnBrk="0" hangingPunct="1">
        <a:defRPr sz="5530" kern="1200">
          <a:solidFill>
            <a:schemeClr val="tx1"/>
          </a:solidFill>
          <a:latin typeface="+mn-lt"/>
          <a:ea typeface="+mn-ea"/>
          <a:cs typeface="+mn-cs"/>
        </a:defRPr>
      </a:lvl6pPr>
      <a:lvl7pPr marL="8427110" algn="l" defTabSz="2809037" rtl="0" eaLnBrk="1" latinLnBrk="0" hangingPunct="1">
        <a:defRPr sz="5530" kern="1200">
          <a:solidFill>
            <a:schemeClr val="tx1"/>
          </a:solidFill>
          <a:latin typeface="+mn-lt"/>
          <a:ea typeface="+mn-ea"/>
          <a:cs typeface="+mn-cs"/>
        </a:defRPr>
      </a:lvl7pPr>
      <a:lvl8pPr marL="9831629" algn="l" defTabSz="2809037" rtl="0" eaLnBrk="1" latinLnBrk="0" hangingPunct="1">
        <a:defRPr sz="5530" kern="1200">
          <a:solidFill>
            <a:schemeClr val="tx1"/>
          </a:solidFill>
          <a:latin typeface="+mn-lt"/>
          <a:ea typeface="+mn-ea"/>
          <a:cs typeface="+mn-cs"/>
        </a:defRPr>
      </a:lvl8pPr>
      <a:lvl9pPr marL="11236147" algn="l" defTabSz="2809037" rtl="0" eaLnBrk="1" latinLnBrk="0" hangingPunct="1">
        <a:defRPr sz="55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5"/>
          <p:cNvSpPr>
            <a:spLocks noChangeArrowheads="1"/>
          </p:cNvSpPr>
          <p:nvPr/>
        </p:nvSpPr>
        <p:spPr bwMode="auto">
          <a:xfrm>
            <a:off x="841859" y="743114"/>
            <a:ext cx="29216514" cy="21696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243" tIns="45614" rIns="91243" bIns="45614">
            <a:spAutoFit/>
          </a:bodyPr>
          <a:lstStyle>
            <a:lvl1pPr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1pPr>
            <a:lvl2pPr marL="37931725" indent="-37474525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9pPr>
          </a:lstStyle>
          <a:p>
            <a:pPr>
              <a:defRPr/>
            </a:pPr>
            <a:r>
              <a:rPr lang="es-CO" sz="6400" noProof="0" dirty="0">
                <a:solidFill>
                  <a:srgbClr val="FFFFFF"/>
                </a:solidFill>
                <a:latin typeface="+mn-lt"/>
                <a:ea typeface="Arial" charset="0"/>
              </a:rPr>
              <a:t>CLASIFICACIÓN DE IMÁGENES NATURALES CON </a:t>
            </a:r>
            <a:r>
              <a:rPr lang="es-CO" sz="6400" noProof="0" dirty="0" err="1">
                <a:solidFill>
                  <a:srgbClr val="FFFFFF"/>
                </a:solidFill>
                <a:latin typeface="+mn-lt"/>
                <a:ea typeface="Arial" charset="0"/>
              </a:rPr>
              <a:t>CNNs</a:t>
            </a:r>
            <a:endParaRPr lang="es-CO" sz="6400" noProof="0" dirty="0">
              <a:solidFill>
                <a:srgbClr val="FFFFFF"/>
              </a:solidFill>
              <a:latin typeface="+mn-lt"/>
              <a:ea typeface="Arial" charset="0"/>
            </a:endParaRPr>
          </a:p>
          <a:p>
            <a:pPr>
              <a:spcAft>
                <a:spcPts val="600"/>
              </a:spcAft>
              <a:defRPr/>
            </a:pPr>
            <a:r>
              <a:rPr lang="es-CO" sz="4000" noProof="0" dirty="0">
                <a:solidFill>
                  <a:srgbClr val="FFFFFF"/>
                </a:solidFill>
                <a:ea typeface="Arial" charset="0"/>
              </a:rPr>
              <a:t>Comparación entre arquitecturas clásicas, profundas y </a:t>
            </a:r>
            <a:r>
              <a:rPr lang="es-CO" sz="4000" i="1" noProof="0" dirty="0">
                <a:solidFill>
                  <a:srgbClr val="FFFFFF"/>
                </a:solidFill>
                <a:ea typeface="Arial" charset="0"/>
              </a:rPr>
              <a:t>transfer </a:t>
            </a:r>
            <a:r>
              <a:rPr lang="es-CO" sz="4000" i="1" noProof="0" dirty="0" err="1">
                <a:solidFill>
                  <a:srgbClr val="FFFFFF"/>
                </a:solidFill>
                <a:ea typeface="Arial" charset="0"/>
              </a:rPr>
              <a:t>learning</a:t>
            </a:r>
            <a:endParaRPr lang="es-CO" sz="4000" noProof="0" dirty="0">
              <a:solidFill>
                <a:srgbClr val="FFFFFF"/>
              </a:solidFill>
              <a:ea typeface="Arial" charset="0"/>
            </a:endParaRPr>
          </a:p>
          <a:p>
            <a:pPr>
              <a:spcAft>
                <a:spcPts val="600"/>
              </a:spcAft>
              <a:defRPr/>
            </a:pPr>
            <a:r>
              <a:rPr lang="es-CO" sz="2600" noProof="0" dirty="0">
                <a:solidFill>
                  <a:srgbClr val="FFFFFF"/>
                </a:solidFill>
                <a:latin typeface="+mn-lt"/>
                <a:ea typeface="Arial" charset="0"/>
              </a:rPr>
              <a:t>Andrés Molina, David Duque, </a:t>
            </a:r>
            <a:r>
              <a:rPr lang="es-CO" sz="2600" noProof="0" dirty="0" err="1">
                <a:solidFill>
                  <a:srgbClr val="FFFFFF"/>
                </a:solidFill>
                <a:latin typeface="+mn-lt"/>
                <a:ea typeface="Arial" charset="0"/>
              </a:rPr>
              <a:t>Yurladys</a:t>
            </a:r>
            <a:r>
              <a:rPr lang="es-CO" sz="2600" noProof="0" dirty="0">
                <a:solidFill>
                  <a:srgbClr val="FFFFFF"/>
                </a:solidFill>
                <a:latin typeface="+mn-lt"/>
                <a:ea typeface="Arial" charset="0"/>
              </a:rPr>
              <a:t> Cross y Emilio Henao</a:t>
            </a:r>
          </a:p>
        </p:txBody>
      </p:sp>
      <p:sp>
        <p:nvSpPr>
          <p:cNvPr id="14" name="TextBox 3"/>
          <p:cNvSpPr txBox="1">
            <a:spLocks noChangeArrowheads="1"/>
          </p:cNvSpPr>
          <p:nvPr/>
        </p:nvSpPr>
        <p:spPr bwMode="auto">
          <a:xfrm>
            <a:off x="662409" y="3780528"/>
            <a:ext cx="8120711" cy="4935262"/>
          </a:xfrm>
          <a:prstGeom prst="rect">
            <a:avLst/>
          </a:prstGeom>
          <a:solidFill>
            <a:schemeClr val="bg1">
              <a:alpha val="63000"/>
            </a:schemeClr>
          </a:solidFill>
          <a:ln>
            <a:noFill/>
          </a:ln>
          <a:effectLst/>
        </p:spPr>
        <p:txBody>
          <a:bodyPr wrap="square">
            <a:spAutoFit/>
          </a:bodyPr>
          <a:lstStyle>
            <a:lvl1pPr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9pPr>
          </a:lstStyle>
          <a:p>
            <a:pPr>
              <a:lnSpc>
                <a:spcPts val="3600"/>
              </a:lnSpc>
              <a:spcAft>
                <a:spcPts val="1000"/>
              </a:spcAft>
            </a:pPr>
            <a:r>
              <a:rPr lang="es-CO" sz="3600" b="1" dirty="0">
                <a:solidFill>
                  <a:srgbClr val="005BBB"/>
                </a:solidFill>
                <a:latin typeface="+mn-lt"/>
                <a:ea typeface="+mn-ea"/>
              </a:rPr>
              <a:t>Descripción del problema</a:t>
            </a:r>
          </a:p>
          <a:p>
            <a:pPr algn="just">
              <a:lnSpc>
                <a:spcPts val="4200"/>
              </a:lnSpc>
            </a:pPr>
            <a:r>
              <a:rPr lang="es-CO" sz="2700" noProof="0" dirty="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</a:rPr>
              <a:t>Se realiza aprendizaje supervisado de clasificación multiclase sobre imágenes naturales. El objetivo es asignar a cada imagen una de seis categorías de paisajes y evaluar cómo distintas arquitecturas de redes neuronales convolucionales se comparan entre sí, contrastando modelos clásicos, modelos profundos entrenados desde cero y un enfoque de </a:t>
            </a:r>
            <a:r>
              <a:rPr lang="es-CO" sz="2700" i="1" noProof="0" dirty="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</a:rPr>
              <a:t>transfer </a:t>
            </a:r>
            <a:r>
              <a:rPr lang="es-CO" sz="2700" i="1" noProof="0" dirty="0" err="1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</a:rPr>
              <a:t>learning</a:t>
            </a:r>
            <a:r>
              <a:rPr lang="es-CO" sz="2700" noProof="0" dirty="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572" y="8905640"/>
            <a:ext cx="8570875" cy="5018618"/>
          </a:xfrm>
          <a:prstGeom prst="rect">
            <a:avLst/>
          </a:prstGeom>
          <a:solidFill>
            <a:schemeClr val="bg1">
              <a:alpha val="63000"/>
            </a:schemeClr>
          </a:solidFill>
          <a:effectLst/>
        </p:spPr>
        <p:txBody>
          <a:bodyPr wrap="square">
            <a:spAutoFit/>
          </a:bodyPr>
          <a:lstStyle/>
          <a:p>
            <a:pPr>
              <a:lnSpc>
                <a:spcPts val="3600"/>
              </a:lnSpc>
              <a:spcAft>
                <a:spcPts val="1000"/>
              </a:spcAft>
              <a:defRPr/>
            </a:pPr>
            <a:r>
              <a:rPr lang="es-CO" sz="3600" b="1" noProof="0" dirty="0">
                <a:solidFill>
                  <a:srgbClr val="005BBB"/>
                </a:solidFill>
              </a:rPr>
              <a:t>Metodología</a:t>
            </a:r>
          </a:p>
          <a:p>
            <a:pPr algn="just">
              <a:lnSpc>
                <a:spcPts val="3600"/>
              </a:lnSpc>
              <a:spcAft>
                <a:spcPts val="1000"/>
              </a:spcAft>
              <a:defRPr/>
            </a:pPr>
            <a:r>
              <a:rPr lang="es-CO" sz="2700" noProof="0" dirty="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rPr>
              <a:t>Se entrenaron y evaluaron cuatro arquitecturas de CNN bajo un protocolo idéntico para garantizar comparabilidad. La métrica de selección fue la </a:t>
            </a:r>
            <a:r>
              <a:rPr lang="es-CO" sz="2700" i="1" noProof="0" dirty="0" err="1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rPr>
              <a:t>validation</a:t>
            </a:r>
            <a:r>
              <a:rPr lang="es-CO" sz="2700" i="1" noProof="0" dirty="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rPr>
              <a:t> </a:t>
            </a:r>
            <a:r>
              <a:rPr lang="es-CO" sz="2700" i="1" noProof="0" dirty="0" err="1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rPr>
              <a:t>loss</a:t>
            </a:r>
            <a:r>
              <a:rPr lang="es-CO" sz="2700" noProof="0" dirty="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rPr>
              <a:t> con </a:t>
            </a:r>
            <a:r>
              <a:rPr lang="es-CO" sz="2700" i="1" noProof="0" dirty="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rPr>
              <a:t>Early </a:t>
            </a:r>
            <a:r>
              <a:rPr lang="es-CO" sz="2700" i="1" noProof="0" dirty="0" err="1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rPr>
              <a:t>Stopping</a:t>
            </a:r>
            <a:r>
              <a:rPr lang="es-CO" sz="2700" noProof="0" dirty="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rPr>
              <a:t> (</a:t>
            </a:r>
            <a:r>
              <a:rPr lang="es-CO" sz="2700" i="1" noProof="0" dirty="0" err="1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rPr>
              <a:t>patience</a:t>
            </a:r>
            <a:r>
              <a:rPr lang="es-CO" sz="2700" noProof="0" dirty="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rPr>
              <a:t>=5):</a:t>
            </a:r>
          </a:p>
          <a:p>
            <a:pPr marL="914400" lvl="1" indent="-457200">
              <a:lnSpc>
                <a:spcPts val="3600"/>
              </a:lnSpc>
              <a:spcAft>
                <a:spcPts val="700"/>
              </a:spcAft>
              <a:buClr>
                <a:schemeClr val="tx2"/>
              </a:buClr>
              <a:buSzPct val="125000"/>
              <a:buFont typeface="Arial" charset="0"/>
              <a:buChar char="•"/>
              <a:defRPr/>
            </a:pPr>
            <a:r>
              <a:rPr lang="es-CO" sz="2700" noProof="0" dirty="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rPr>
              <a:t>LeNet5 (adaptada), </a:t>
            </a:r>
            <a:r>
              <a:rPr lang="es-CO" sz="2700" noProof="0" dirty="0" err="1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rPr>
              <a:t>VGGMini</a:t>
            </a:r>
            <a:r>
              <a:rPr lang="es-CO" sz="2700" noProof="0" dirty="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rPr>
              <a:t> y ResNet18 entrenadas desde cero.</a:t>
            </a:r>
          </a:p>
          <a:p>
            <a:pPr marL="914400" lvl="1" indent="-457200">
              <a:lnSpc>
                <a:spcPts val="3600"/>
              </a:lnSpc>
              <a:spcAft>
                <a:spcPts val="700"/>
              </a:spcAft>
              <a:buClr>
                <a:schemeClr val="tx2"/>
              </a:buClr>
              <a:buSzPct val="125000"/>
              <a:buFont typeface="Arial" charset="0"/>
              <a:buChar char="•"/>
              <a:defRPr/>
            </a:pPr>
            <a:r>
              <a:rPr lang="es-CO" sz="2700" noProof="0" dirty="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rPr>
              <a:t>ResNet18 </a:t>
            </a:r>
            <a:r>
              <a:rPr lang="es-CO" sz="2700" noProof="0" dirty="0" err="1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rPr>
              <a:t>preentrenada</a:t>
            </a:r>
            <a:r>
              <a:rPr lang="es-CO" sz="2700" noProof="0" dirty="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rPr>
              <a:t> en </a:t>
            </a:r>
            <a:r>
              <a:rPr lang="es-CO" sz="2700" noProof="0" dirty="0" err="1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rPr>
              <a:t>ImageNet</a:t>
            </a:r>
            <a:r>
              <a:rPr lang="es-CO" sz="2700" noProof="0" dirty="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rPr>
              <a:t> con </a:t>
            </a:r>
            <a:r>
              <a:rPr lang="es-CO" sz="2700" i="1" noProof="0" dirty="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rPr>
              <a:t>fine-</a:t>
            </a:r>
            <a:r>
              <a:rPr lang="es-CO" sz="2700" i="1" noProof="0" dirty="0" err="1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rPr>
              <a:t>tuning</a:t>
            </a:r>
            <a:r>
              <a:rPr lang="es-CO" sz="2700" noProof="0" dirty="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rPr>
              <a:t> y</a:t>
            </a:r>
            <a:r>
              <a:rPr lang="es-CO" sz="2700" i="1" noProof="0" dirty="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rPr>
              <a:t> </a:t>
            </a:r>
            <a:r>
              <a:rPr lang="es-CO" sz="2700" i="1" noProof="0" dirty="0" err="1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rPr>
              <a:t>learning</a:t>
            </a:r>
            <a:r>
              <a:rPr lang="es-CO" sz="2700" i="1" noProof="0" dirty="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rPr>
              <a:t> </a:t>
            </a:r>
            <a:r>
              <a:rPr lang="es-CO" sz="2700" i="1" noProof="0" dirty="0" err="1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rPr>
              <a:t>rates</a:t>
            </a:r>
            <a:r>
              <a:rPr lang="es-CO" sz="2700" i="1" noProof="0" dirty="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rPr>
              <a:t> </a:t>
            </a:r>
            <a:r>
              <a:rPr lang="es-CO" sz="2700" noProof="0" dirty="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rPr>
              <a:t>diferenciales: 1e-4 </a:t>
            </a:r>
            <a:r>
              <a:rPr lang="es-CO" sz="2700" i="1" noProof="0" dirty="0" err="1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rPr>
              <a:t>backbone</a:t>
            </a:r>
            <a:r>
              <a:rPr lang="es-CO" sz="2700" i="1" noProof="0" dirty="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rPr>
              <a:t> </a:t>
            </a:r>
            <a:r>
              <a:rPr lang="es-CO" sz="2700" noProof="0" dirty="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rPr>
              <a:t>/ 1e-3 </a:t>
            </a:r>
            <a:r>
              <a:rPr lang="es-CO" sz="2700" i="1" noProof="0" dirty="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rPr>
              <a:t>head</a:t>
            </a:r>
            <a:r>
              <a:rPr lang="es-CO" sz="2700" noProof="0" dirty="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rPr>
              <a:t>.</a:t>
            </a:r>
          </a:p>
        </p:txBody>
      </p:sp>
      <p:sp>
        <p:nvSpPr>
          <p:cNvPr id="22" name="Freeform 21"/>
          <p:cNvSpPr/>
          <p:nvPr/>
        </p:nvSpPr>
        <p:spPr>
          <a:xfrm rot="10800000">
            <a:off x="17235054" y="10889672"/>
            <a:ext cx="282288" cy="1374157"/>
          </a:xfrm>
          <a:custGeom>
            <a:avLst/>
            <a:gdLst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72768 h 1645920"/>
              <a:gd name="connsiteX5" fmla="*/ 65837 w 376733"/>
              <a:gd name="connsiteY5" fmla="*/ 1572768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72768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94713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87397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91055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71154 w 376733"/>
              <a:gd name="connsiteY5" fmla="*/ 1564474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87365"/>
              <a:gd name="connsiteY0" fmla="*/ 0 h 1645920"/>
              <a:gd name="connsiteX1" fmla="*/ 0 w 387365"/>
              <a:gd name="connsiteY1" fmla="*/ 0 h 1645920"/>
              <a:gd name="connsiteX2" fmla="*/ 0 w 387365"/>
              <a:gd name="connsiteY2" fmla="*/ 1645920 h 1645920"/>
              <a:gd name="connsiteX3" fmla="*/ 376733 w 387365"/>
              <a:gd name="connsiteY3" fmla="*/ 1645920 h 1645920"/>
              <a:gd name="connsiteX4" fmla="*/ 387365 w 387365"/>
              <a:gd name="connsiteY4" fmla="*/ 1564475 h 1645920"/>
              <a:gd name="connsiteX5" fmla="*/ 71154 w 387365"/>
              <a:gd name="connsiteY5" fmla="*/ 1564474 h 1645920"/>
              <a:gd name="connsiteX6" fmla="*/ 65837 w 387365"/>
              <a:gd name="connsiteY6" fmla="*/ 58521 h 1645920"/>
              <a:gd name="connsiteX7" fmla="*/ 336499 w 387365"/>
              <a:gd name="connsiteY7" fmla="*/ 58521 h 1645920"/>
              <a:gd name="connsiteX8" fmla="*/ 336499 w 387365"/>
              <a:gd name="connsiteY8" fmla="*/ 0 h 1645920"/>
              <a:gd name="connsiteX0" fmla="*/ 336499 w 405611"/>
              <a:gd name="connsiteY0" fmla="*/ 0 h 1645920"/>
              <a:gd name="connsiteX1" fmla="*/ 0 w 405611"/>
              <a:gd name="connsiteY1" fmla="*/ 0 h 1645920"/>
              <a:gd name="connsiteX2" fmla="*/ 0 w 405611"/>
              <a:gd name="connsiteY2" fmla="*/ 1645920 h 1645920"/>
              <a:gd name="connsiteX3" fmla="*/ 376733 w 405611"/>
              <a:gd name="connsiteY3" fmla="*/ 1645920 h 1645920"/>
              <a:gd name="connsiteX4" fmla="*/ 387365 w 405611"/>
              <a:gd name="connsiteY4" fmla="*/ 1564475 h 1645920"/>
              <a:gd name="connsiteX5" fmla="*/ 71154 w 405611"/>
              <a:gd name="connsiteY5" fmla="*/ 1564474 h 1645920"/>
              <a:gd name="connsiteX6" fmla="*/ 65837 w 405611"/>
              <a:gd name="connsiteY6" fmla="*/ 58521 h 1645920"/>
              <a:gd name="connsiteX7" fmla="*/ 405611 w 405611"/>
              <a:gd name="connsiteY7" fmla="*/ 63838 h 1645920"/>
              <a:gd name="connsiteX8" fmla="*/ 336499 w 405611"/>
              <a:gd name="connsiteY8" fmla="*/ 0 h 1645920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76733 w 405611"/>
              <a:gd name="connsiteY3" fmla="*/ 1651236 h 1651236"/>
              <a:gd name="connsiteX4" fmla="*/ 387365 w 405611"/>
              <a:gd name="connsiteY4" fmla="*/ 1569791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403314 w 405611"/>
              <a:gd name="connsiteY3" fmla="*/ 1651236 h 1651236"/>
              <a:gd name="connsiteX4" fmla="*/ 387365 w 405611"/>
              <a:gd name="connsiteY4" fmla="*/ 1569791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87365 w 405611"/>
              <a:gd name="connsiteY4" fmla="*/ 1569791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71490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9371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9371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9371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8736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44886"/>
              <a:gd name="connsiteX1" fmla="*/ 0 w 405611"/>
              <a:gd name="connsiteY1" fmla="*/ 5316 h 1644886"/>
              <a:gd name="connsiteX2" fmla="*/ 0 w 405611"/>
              <a:gd name="connsiteY2" fmla="*/ 1644886 h 1644886"/>
              <a:gd name="connsiteX3" fmla="*/ 387439 w 405611"/>
              <a:gd name="connsiteY3" fmla="*/ 1644886 h 1644886"/>
              <a:gd name="connsiteX4" fmla="*/ 387365 w 405611"/>
              <a:gd name="connsiteY4" fmla="*/ 1566616 h 1644886"/>
              <a:gd name="connsiteX5" fmla="*/ 71154 w 405611"/>
              <a:gd name="connsiteY5" fmla="*/ 1569790 h 1644886"/>
              <a:gd name="connsiteX6" fmla="*/ 65837 w 405611"/>
              <a:gd name="connsiteY6" fmla="*/ 63837 h 1644886"/>
              <a:gd name="connsiteX7" fmla="*/ 405611 w 405611"/>
              <a:gd name="connsiteY7" fmla="*/ 69154 h 1644886"/>
              <a:gd name="connsiteX8" fmla="*/ 400294 w 405611"/>
              <a:gd name="connsiteY8" fmla="*/ 0 h 1644886"/>
              <a:gd name="connsiteX0" fmla="*/ 400294 w 400294"/>
              <a:gd name="connsiteY0" fmla="*/ 0 h 1644886"/>
              <a:gd name="connsiteX1" fmla="*/ 0 w 400294"/>
              <a:gd name="connsiteY1" fmla="*/ 5316 h 1644886"/>
              <a:gd name="connsiteX2" fmla="*/ 0 w 400294"/>
              <a:gd name="connsiteY2" fmla="*/ 1644886 h 1644886"/>
              <a:gd name="connsiteX3" fmla="*/ 387439 w 400294"/>
              <a:gd name="connsiteY3" fmla="*/ 1644886 h 1644886"/>
              <a:gd name="connsiteX4" fmla="*/ 387365 w 400294"/>
              <a:gd name="connsiteY4" fmla="*/ 1566616 h 1644886"/>
              <a:gd name="connsiteX5" fmla="*/ 71154 w 400294"/>
              <a:gd name="connsiteY5" fmla="*/ 1569790 h 1644886"/>
              <a:gd name="connsiteX6" fmla="*/ 65837 w 400294"/>
              <a:gd name="connsiteY6" fmla="*/ 63837 h 1644886"/>
              <a:gd name="connsiteX7" fmla="*/ 386561 w 400294"/>
              <a:gd name="connsiteY7" fmla="*/ 78679 h 1644886"/>
              <a:gd name="connsiteX8" fmla="*/ 400294 w 400294"/>
              <a:gd name="connsiteY8" fmla="*/ 0 h 1644886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60662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414236"/>
              <a:gd name="connsiteY0" fmla="*/ 0 h 1641711"/>
              <a:gd name="connsiteX1" fmla="*/ 0 w 414236"/>
              <a:gd name="connsiteY1" fmla="*/ 2141 h 1641711"/>
              <a:gd name="connsiteX2" fmla="*/ 0 w 414236"/>
              <a:gd name="connsiteY2" fmla="*/ 1641711 h 1641711"/>
              <a:gd name="connsiteX3" fmla="*/ 387439 w 414236"/>
              <a:gd name="connsiteY3" fmla="*/ 1641711 h 1641711"/>
              <a:gd name="connsiteX4" fmla="*/ 379172 w 414236"/>
              <a:gd name="connsiteY4" fmla="*/ 1600163 h 1641711"/>
              <a:gd name="connsiteX5" fmla="*/ 387365 w 414236"/>
              <a:gd name="connsiteY5" fmla="*/ 1563441 h 1641711"/>
              <a:gd name="connsiteX6" fmla="*/ 71154 w 414236"/>
              <a:gd name="connsiteY6" fmla="*/ 1566615 h 1641711"/>
              <a:gd name="connsiteX7" fmla="*/ 65837 w 414236"/>
              <a:gd name="connsiteY7" fmla="*/ 76537 h 1641711"/>
              <a:gd name="connsiteX8" fmla="*/ 386561 w 414236"/>
              <a:gd name="connsiteY8" fmla="*/ 75504 h 1641711"/>
              <a:gd name="connsiteX9" fmla="*/ 384419 w 414236"/>
              <a:gd name="connsiteY9" fmla="*/ 0 h 1641711"/>
              <a:gd name="connsiteX0" fmla="*/ 384419 w 431494"/>
              <a:gd name="connsiteY0" fmla="*/ 0 h 1641711"/>
              <a:gd name="connsiteX1" fmla="*/ 0 w 431494"/>
              <a:gd name="connsiteY1" fmla="*/ 2141 h 1641711"/>
              <a:gd name="connsiteX2" fmla="*/ 0 w 431494"/>
              <a:gd name="connsiteY2" fmla="*/ 1641711 h 1641711"/>
              <a:gd name="connsiteX3" fmla="*/ 387439 w 431494"/>
              <a:gd name="connsiteY3" fmla="*/ 1641711 h 1641711"/>
              <a:gd name="connsiteX4" fmla="*/ 387365 w 431494"/>
              <a:gd name="connsiteY4" fmla="*/ 1563441 h 1641711"/>
              <a:gd name="connsiteX5" fmla="*/ 71154 w 431494"/>
              <a:gd name="connsiteY5" fmla="*/ 1566615 h 1641711"/>
              <a:gd name="connsiteX6" fmla="*/ 65837 w 431494"/>
              <a:gd name="connsiteY6" fmla="*/ 76537 h 1641711"/>
              <a:gd name="connsiteX7" fmla="*/ 386561 w 431494"/>
              <a:gd name="connsiteY7" fmla="*/ 75504 h 1641711"/>
              <a:gd name="connsiteX8" fmla="*/ 384419 w 431494"/>
              <a:gd name="connsiteY8" fmla="*/ 0 h 1641711"/>
              <a:gd name="connsiteX0" fmla="*/ 384419 w 409039"/>
              <a:gd name="connsiteY0" fmla="*/ 0 h 1642067"/>
              <a:gd name="connsiteX1" fmla="*/ 0 w 409039"/>
              <a:gd name="connsiteY1" fmla="*/ 2141 h 1642067"/>
              <a:gd name="connsiteX2" fmla="*/ 0 w 409039"/>
              <a:gd name="connsiteY2" fmla="*/ 1641711 h 1642067"/>
              <a:gd name="connsiteX3" fmla="*/ 387439 w 409039"/>
              <a:gd name="connsiteY3" fmla="*/ 1641711 h 1642067"/>
              <a:gd name="connsiteX4" fmla="*/ 387365 w 409039"/>
              <a:gd name="connsiteY4" fmla="*/ 1563441 h 1642067"/>
              <a:gd name="connsiteX5" fmla="*/ 71154 w 409039"/>
              <a:gd name="connsiteY5" fmla="*/ 1566615 h 1642067"/>
              <a:gd name="connsiteX6" fmla="*/ 65837 w 409039"/>
              <a:gd name="connsiteY6" fmla="*/ 76537 h 1642067"/>
              <a:gd name="connsiteX7" fmla="*/ 386561 w 409039"/>
              <a:gd name="connsiteY7" fmla="*/ 75504 h 1642067"/>
              <a:gd name="connsiteX8" fmla="*/ 384419 w 409039"/>
              <a:gd name="connsiteY8" fmla="*/ 0 h 1642067"/>
              <a:gd name="connsiteX0" fmla="*/ 384419 w 410804"/>
              <a:gd name="connsiteY0" fmla="*/ 0 h 1641711"/>
              <a:gd name="connsiteX1" fmla="*/ 0 w 410804"/>
              <a:gd name="connsiteY1" fmla="*/ 2141 h 1641711"/>
              <a:gd name="connsiteX2" fmla="*/ 0 w 410804"/>
              <a:gd name="connsiteY2" fmla="*/ 1641711 h 1641711"/>
              <a:gd name="connsiteX3" fmla="*/ 387439 w 410804"/>
              <a:gd name="connsiteY3" fmla="*/ 1641711 h 1641711"/>
              <a:gd name="connsiteX4" fmla="*/ 387365 w 410804"/>
              <a:gd name="connsiteY4" fmla="*/ 1563441 h 1641711"/>
              <a:gd name="connsiteX5" fmla="*/ 71154 w 410804"/>
              <a:gd name="connsiteY5" fmla="*/ 1566615 h 1641711"/>
              <a:gd name="connsiteX6" fmla="*/ 65837 w 410804"/>
              <a:gd name="connsiteY6" fmla="*/ 76537 h 1641711"/>
              <a:gd name="connsiteX7" fmla="*/ 386561 w 410804"/>
              <a:gd name="connsiteY7" fmla="*/ 75504 h 1641711"/>
              <a:gd name="connsiteX8" fmla="*/ 384419 w 410804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400294 w 400294"/>
              <a:gd name="connsiteY0" fmla="*/ 0 h 1644886"/>
              <a:gd name="connsiteX1" fmla="*/ 0 w 400294"/>
              <a:gd name="connsiteY1" fmla="*/ 5316 h 1644886"/>
              <a:gd name="connsiteX2" fmla="*/ 0 w 400294"/>
              <a:gd name="connsiteY2" fmla="*/ 1644886 h 1644886"/>
              <a:gd name="connsiteX3" fmla="*/ 387439 w 400294"/>
              <a:gd name="connsiteY3" fmla="*/ 1644886 h 1644886"/>
              <a:gd name="connsiteX4" fmla="*/ 387365 w 400294"/>
              <a:gd name="connsiteY4" fmla="*/ 1566616 h 1644886"/>
              <a:gd name="connsiteX5" fmla="*/ 71154 w 400294"/>
              <a:gd name="connsiteY5" fmla="*/ 1569790 h 1644886"/>
              <a:gd name="connsiteX6" fmla="*/ 65837 w 400294"/>
              <a:gd name="connsiteY6" fmla="*/ 79712 h 1644886"/>
              <a:gd name="connsiteX7" fmla="*/ 386561 w 400294"/>
              <a:gd name="connsiteY7" fmla="*/ 78679 h 1644886"/>
              <a:gd name="connsiteX8" fmla="*/ 400294 w 400294"/>
              <a:gd name="connsiteY8" fmla="*/ 0 h 1644886"/>
              <a:gd name="connsiteX0" fmla="*/ 37806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7806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7439" h="1641711">
                <a:moveTo>
                  <a:pt x="384419" y="0"/>
                </a:moveTo>
                <a:lnTo>
                  <a:pt x="0" y="2141"/>
                </a:lnTo>
                <a:lnTo>
                  <a:pt x="0" y="1641711"/>
                </a:lnTo>
                <a:lnTo>
                  <a:pt x="387439" y="1641711"/>
                </a:lnTo>
                <a:cubicBezTo>
                  <a:pt x="387414" y="1615621"/>
                  <a:pt x="387390" y="1589531"/>
                  <a:pt x="387365" y="1563441"/>
                </a:cubicBezTo>
                <a:lnTo>
                  <a:pt x="71154" y="1566615"/>
                </a:lnTo>
                <a:cubicBezTo>
                  <a:pt x="68495" y="821576"/>
                  <a:pt x="68495" y="821576"/>
                  <a:pt x="65837" y="76537"/>
                </a:cubicBezTo>
                <a:lnTo>
                  <a:pt x="386561" y="75504"/>
                </a:lnTo>
                <a:lnTo>
                  <a:pt x="384419" y="0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9787191" y="3780528"/>
            <a:ext cx="8100302" cy="6182718"/>
          </a:xfrm>
          <a:prstGeom prst="rect">
            <a:avLst/>
          </a:prstGeom>
          <a:solidFill>
            <a:schemeClr val="bg1">
              <a:alpha val="63000"/>
            </a:schemeClr>
          </a:solidFill>
          <a:effectLst/>
        </p:spPr>
        <p:txBody>
          <a:bodyPr wrap="square">
            <a:spAutoFit/>
          </a:bodyPr>
          <a:lstStyle/>
          <a:p>
            <a:pPr algn="just">
              <a:lnSpc>
                <a:spcPts val="3600"/>
              </a:lnSpc>
              <a:spcAft>
                <a:spcPts val="1000"/>
              </a:spcAft>
              <a:defRPr/>
            </a:pPr>
            <a:r>
              <a:rPr lang="es-CO" sz="3600" b="1" noProof="0" dirty="0">
                <a:solidFill>
                  <a:srgbClr val="005BBB"/>
                </a:solidFill>
              </a:rPr>
              <a:t>Base de datos</a:t>
            </a:r>
          </a:p>
          <a:p>
            <a:pPr algn="just">
              <a:lnSpc>
                <a:spcPts val="3600"/>
              </a:lnSpc>
              <a:spcAft>
                <a:spcPts val="1200"/>
              </a:spcAft>
              <a:defRPr/>
            </a:pPr>
            <a:r>
              <a:rPr lang="es-CO" sz="2600" i="1" noProof="0" dirty="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rPr>
              <a:t>Intel </a:t>
            </a:r>
            <a:r>
              <a:rPr lang="es-CO" sz="2600" i="1" noProof="0" dirty="0" err="1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rPr>
              <a:t>Image</a:t>
            </a:r>
            <a:r>
              <a:rPr lang="es-CO" sz="2600" i="1" noProof="0" dirty="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rPr>
              <a:t> </a:t>
            </a:r>
            <a:r>
              <a:rPr lang="es-CO" sz="2600" i="1" noProof="0" dirty="0" err="1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rPr>
              <a:t>Classification</a:t>
            </a:r>
            <a:r>
              <a:rPr lang="es-CO" sz="2600" i="1" noProof="0" dirty="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rPr>
              <a:t> </a:t>
            </a:r>
            <a:r>
              <a:rPr lang="es-CO" sz="2600" noProof="0" dirty="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rPr>
              <a:t>(</a:t>
            </a:r>
            <a:r>
              <a:rPr lang="es-CO" sz="2600" noProof="0" dirty="0" err="1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rPr>
              <a:t>Kaggle</a:t>
            </a:r>
            <a:r>
              <a:rPr lang="es-CO" sz="2600" noProof="0" dirty="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rPr>
              <a:t>, Puneet6060): Aprox. 25.000 imágenes RGB de 150×150 </a:t>
            </a:r>
            <a:r>
              <a:rPr lang="es-CO" sz="2600" noProof="0" dirty="0" err="1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rPr>
              <a:t>px</a:t>
            </a:r>
            <a:r>
              <a:rPr lang="es-CO" sz="2600" noProof="0" dirty="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rPr>
              <a:t> etiquetadas en seis clases </a:t>
            </a:r>
            <a:r>
              <a:rPr lang="es-CO" sz="2600" i="1" noProof="0" dirty="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rPr>
              <a:t>(</a:t>
            </a:r>
            <a:r>
              <a:rPr lang="es-CO" sz="2600" i="1" noProof="0" dirty="0" err="1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buildings</a:t>
            </a:r>
            <a:r>
              <a:rPr lang="es-CO" sz="2600" i="1" noProof="0" dirty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, </a:t>
            </a:r>
            <a:r>
              <a:rPr lang="es-CO" sz="2600" i="1" noProof="0" dirty="0" err="1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forest</a:t>
            </a:r>
            <a:r>
              <a:rPr lang="es-CO" sz="2600" i="1" noProof="0" dirty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, </a:t>
            </a:r>
            <a:r>
              <a:rPr lang="es-CO" sz="2600" i="1" noProof="0" dirty="0" err="1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glaciers</a:t>
            </a:r>
            <a:r>
              <a:rPr lang="es-CO" sz="2600" i="1" noProof="0" dirty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, </a:t>
            </a:r>
            <a:r>
              <a:rPr lang="es-CO" sz="2600" i="1" noProof="0" dirty="0" err="1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mountains</a:t>
            </a:r>
            <a:r>
              <a:rPr lang="es-CO" sz="2600" i="1" noProof="0" dirty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, sea, </a:t>
            </a:r>
            <a:r>
              <a:rPr lang="es-CO" sz="2600" i="1" noProof="0" dirty="0" err="1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street</a:t>
            </a:r>
            <a:r>
              <a:rPr lang="es-CO" sz="2600" noProof="0" dirty="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rPr>
              <a:t>). Características técnicas y preprocesamiento:</a:t>
            </a:r>
          </a:p>
          <a:p>
            <a:pPr marL="971550" lvl="1" indent="-514350" algn="just">
              <a:lnSpc>
                <a:spcPts val="3600"/>
              </a:lnSpc>
              <a:spcAft>
                <a:spcPts val="1200"/>
              </a:spcAft>
              <a:buClr>
                <a:schemeClr val="tx2"/>
              </a:buClr>
              <a:buSzPct val="100000"/>
              <a:buFont typeface="+mj-lt"/>
              <a:buAutoNum type="alphaUcPeriod"/>
              <a:defRPr/>
            </a:pPr>
            <a:r>
              <a:rPr lang="es-CO" sz="2600" noProof="0" dirty="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rPr>
              <a:t>Partición: Aprox. 14.000 imágenes de entrenamiento y 3.000 de prueba.</a:t>
            </a:r>
          </a:p>
          <a:p>
            <a:pPr marL="971550" lvl="1" indent="-514350" algn="just">
              <a:lnSpc>
                <a:spcPts val="3600"/>
              </a:lnSpc>
              <a:spcAft>
                <a:spcPts val="1200"/>
              </a:spcAft>
              <a:buClr>
                <a:schemeClr val="tx2"/>
              </a:buClr>
              <a:buSzPct val="100000"/>
              <a:buFont typeface="+mj-lt"/>
              <a:buAutoNum type="alphaUcPeriod"/>
              <a:defRPr/>
            </a:pPr>
            <a:r>
              <a:rPr lang="es-CO" sz="2600" noProof="0" dirty="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rPr>
              <a:t>Imágenes redimensionadas a 150×150 </a:t>
            </a:r>
            <a:r>
              <a:rPr lang="es-CO" sz="2600" noProof="0" dirty="0" err="1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rPr>
              <a:t>px</a:t>
            </a:r>
            <a:r>
              <a:rPr lang="es-CO" sz="2600" noProof="0" dirty="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rPr>
              <a:t> y normalizadas a tensores en [0,1].</a:t>
            </a:r>
          </a:p>
          <a:p>
            <a:pPr marL="971550" lvl="1" indent="-514350" algn="just">
              <a:lnSpc>
                <a:spcPts val="3600"/>
              </a:lnSpc>
              <a:buClr>
                <a:schemeClr val="tx2"/>
              </a:buClr>
              <a:buSzPct val="100000"/>
              <a:buFont typeface="+mj-lt"/>
              <a:buAutoNum type="alphaUcPeriod"/>
              <a:defRPr/>
            </a:pPr>
            <a:r>
              <a:rPr lang="es-CO" sz="2600" noProof="0" dirty="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rPr>
              <a:t>Reto: clases que se pueden confundir (</a:t>
            </a:r>
            <a:r>
              <a:rPr lang="es-CO" sz="2600" i="1" noProof="0" dirty="0" err="1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rPr>
              <a:t>glacier</a:t>
            </a:r>
            <a:r>
              <a:rPr lang="es-CO" sz="2600" noProof="0" dirty="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rPr>
              <a:t> vs. </a:t>
            </a:r>
            <a:r>
              <a:rPr lang="es-CO" sz="2600" i="1" noProof="0" dirty="0" err="1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rPr>
              <a:t>mountain</a:t>
            </a:r>
            <a:r>
              <a:rPr lang="es-CO" sz="2600" noProof="0" dirty="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rPr>
              <a:t>; </a:t>
            </a:r>
            <a:r>
              <a:rPr lang="es-CO" sz="2600" i="1" noProof="0" dirty="0" err="1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rPr>
              <a:t>buildings</a:t>
            </a:r>
            <a:r>
              <a:rPr lang="es-CO" sz="2600" noProof="0" dirty="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rPr>
              <a:t> vs. </a:t>
            </a:r>
            <a:r>
              <a:rPr lang="es-CO" sz="2600" i="1" noProof="0" dirty="0" err="1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rPr>
              <a:t>streets</a:t>
            </a:r>
            <a:r>
              <a:rPr lang="es-CO" sz="2600" noProof="0" dirty="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rPr>
              <a:t>).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047367" y="17233691"/>
            <a:ext cx="7797882" cy="1117742"/>
          </a:xfrm>
          <a:prstGeom prst="rect">
            <a:avLst/>
          </a:prstGeom>
          <a:solidFill>
            <a:schemeClr val="bg1">
              <a:alpha val="63000"/>
            </a:schemeClr>
          </a:solidFill>
          <a:effectLst/>
        </p:spPr>
        <p:txBody>
          <a:bodyPr wrap="square">
            <a:spAutoFit/>
          </a:bodyPr>
          <a:lstStyle/>
          <a:p>
            <a:pPr>
              <a:lnSpc>
                <a:spcPts val="3600"/>
              </a:lnSpc>
              <a:spcAft>
                <a:spcPts val="1000"/>
              </a:spcAft>
              <a:buClr>
                <a:schemeClr val="tx2"/>
              </a:buClr>
              <a:defRPr/>
            </a:pPr>
            <a:r>
              <a:rPr lang="es-CO" sz="4000" b="1" noProof="0" dirty="0">
                <a:solidFill>
                  <a:srgbClr val="005BBB"/>
                </a:solidFill>
                <a:latin typeface="+mj-lt"/>
              </a:rPr>
              <a:t>Referencias</a:t>
            </a:r>
            <a:r>
              <a:rPr lang="es-CO" sz="4000" noProof="0" dirty="0">
                <a:solidFill>
                  <a:schemeClr val="tx1">
                    <a:lumMod val="75000"/>
                  </a:schemeClr>
                </a:solidFill>
                <a:latin typeface="+mj-lt"/>
                <a:ea typeface="Arial" charset="0"/>
                <a:cs typeface="Arial" charset="0"/>
              </a:rPr>
              <a:t> </a:t>
            </a:r>
            <a:r>
              <a:rPr lang="es-CO" sz="2400" noProof="0" dirty="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rPr>
              <a:t> </a:t>
            </a:r>
          </a:p>
          <a:p>
            <a:pPr>
              <a:lnSpc>
                <a:spcPts val="3800"/>
              </a:lnSpc>
              <a:buClr>
                <a:schemeClr val="tx2"/>
              </a:buClr>
              <a:buFont typeface="+mj-lt"/>
              <a:buAutoNum type="arabicPeriod"/>
              <a:defRPr/>
            </a:pPr>
            <a:r>
              <a:rPr lang="en-US" sz="2400" dirty="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rPr>
              <a:t> Bansal, P. Intel Image Classification. Kaggle (2018).</a:t>
            </a:r>
          </a:p>
        </p:txBody>
      </p:sp>
      <p:cxnSp>
        <p:nvCxnSpPr>
          <p:cNvPr id="41" name="Straight Connector 40"/>
          <p:cNvCxnSpPr/>
          <p:nvPr/>
        </p:nvCxnSpPr>
        <p:spPr bwMode="auto">
          <a:xfrm flipV="1">
            <a:off x="19098712" y="7737212"/>
            <a:ext cx="8229600" cy="0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44" name="TextBox 43"/>
          <p:cNvSpPr txBox="1"/>
          <p:nvPr/>
        </p:nvSpPr>
        <p:spPr>
          <a:xfrm>
            <a:off x="9712220" y="16381444"/>
            <a:ext cx="8286041" cy="2027735"/>
          </a:xfrm>
          <a:prstGeom prst="rect">
            <a:avLst/>
          </a:prstGeom>
          <a:solidFill>
            <a:schemeClr val="bg1">
              <a:alpha val="63000"/>
            </a:schemeClr>
          </a:solidFill>
          <a:effectLst/>
        </p:spPr>
        <p:txBody>
          <a:bodyPr wrap="square">
            <a:spAutoFit/>
          </a:bodyPr>
          <a:lstStyle/>
          <a:p>
            <a:pPr>
              <a:lnSpc>
                <a:spcPts val="3600"/>
              </a:lnSpc>
              <a:spcAft>
                <a:spcPts val="1000"/>
              </a:spcAft>
              <a:defRPr/>
            </a:pPr>
            <a:r>
              <a:rPr lang="es-CO" sz="4000" b="1" noProof="0" dirty="0">
                <a:solidFill>
                  <a:srgbClr val="005BBB"/>
                </a:solidFill>
              </a:rPr>
              <a:t>Resultados</a:t>
            </a:r>
          </a:p>
          <a:p>
            <a:pPr algn="just">
              <a:lnSpc>
                <a:spcPts val="3600"/>
              </a:lnSpc>
              <a:spcAft>
                <a:spcPts val="1800"/>
              </a:spcAft>
              <a:defRPr/>
            </a:pPr>
            <a:r>
              <a:rPr lang="es-CO" sz="2600" noProof="0" dirty="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rPr>
              <a:t>ResNet18 </a:t>
            </a:r>
            <a:r>
              <a:rPr lang="es-CO" sz="2600" noProof="0" dirty="0" err="1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rPr>
              <a:t>preentrenada</a:t>
            </a:r>
            <a:r>
              <a:rPr lang="es-CO" sz="2600" noProof="0" dirty="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rPr>
              <a:t> alcanzó el mejor desempeño global, superando en 6,6 p.p. al mejor modelo entrenado desde cero. F1-score por clase.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8355569" y="3856675"/>
            <a:ext cx="8165310" cy="6952160"/>
          </a:xfrm>
          <a:prstGeom prst="rect">
            <a:avLst/>
          </a:prstGeom>
          <a:solidFill>
            <a:schemeClr val="bg1">
              <a:alpha val="63000"/>
            </a:schemeClr>
          </a:solidFill>
          <a:effectLst/>
        </p:spPr>
        <p:txBody>
          <a:bodyPr wrap="square">
            <a:spAutoFit/>
          </a:bodyPr>
          <a:lstStyle/>
          <a:p>
            <a:pPr>
              <a:lnSpc>
                <a:spcPts val="3600"/>
              </a:lnSpc>
              <a:spcAft>
                <a:spcPts val="1000"/>
              </a:spcAft>
              <a:defRPr/>
            </a:pPr>
            <a:r>
              <a:rPr lang="es-CO" sz="3600" b="1" noProof="0" dirty="0">
                <a:solidFill>
                  <a:srgbClr val="005BBB"/>
                </a:solidFill>
              </a:rPr>
              <a:t>Conclusiones</a:t>
            </a:r>
          </a:p>
          <a:p>
            <a:pPr marL="914400" lvl="1" indent="-457200" algn="just">
              <a:lnSpc>
                <a:spcPts val="3600"/>
              </a:lnSpc>
              <a:spcAft>
                <a:spcPts val="1200"/>
              </a:spcAft>
              <a:buClr>
                <a:schemeClr val="tx2"/>
              </a:buClr>
              <a:buSzPct val="125000"/>
              <a:buFont typeface="Arial" charset="0"/>
              <a:buChar char="•"/>
              <a:defRPr/>
            </a:pPr>
            <a:r>
              <a:rPr lang="es-CO" sz="2600" b="1" i="1" noProof="0" dirty="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rPr>
              <a:t>Transfer </a:t>
            </a:r>
            <a:r>
              <a:rPr lang="es-CO" sz="2600" b="1" i="1" noProof="0" dirty="0" err="1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rPr>
              <a:t>learning</a:t>
            </a:r>
            <a:r>
              <a:rPr lang="es-CO" sz="2600" b="1" i="1" noProof="0" dirty="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rPr>
              <a:t> </a:t>
            </a:r>
            <a:r>
              <a:rPr lang="es-CO" sz="2600" b="1" noProof="0" dirty="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rPr>
              <a:t>supera ampliamente: </a:t>
            </a:r>
            <a:r>
              <a:rPr lang="es-CO" sz="2600" noProof="0" dirty="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rPr>
              <a:t>ResNet18_Pretrain logró 92.57% de </a:t>
            </a:r>
            <a:r>
              <a:rPr lang="es-CO" sz="2600" i="1" noProof="0" dirty="0" err="1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rPr>
              <a:t>accuracy</a:t>
            </a:r>
            <a:r>
              <a:rPr lang="es-CO" sz="2600" noProof="0" dirty="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rPr>
              <a:t> y 0.220 de </a:t>
            </a:r>
            <a:r>
              <a:rPr lang="es-CO" sz="2600" i="1" noProof="0" dirty="0" err="1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rPr>
              <a:t>loss</a:t>
            </a:r>
            <a:r>
              <a:rPr lang="es-CO" sz="2600" noProof="0" dirty="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rPr>
              <a:t>, superando en 6.6 p.p. al mejor modelo entrenado desde cero.</a:t>
            </a:r>
          </a:p>
          <a:p>
            <a:pPr marL="914400" lvl="1" indent="-457200" algn="just">
              <a:lnSpc>
                <a:spcPts val="3600"/>
              </a:lnSpc>
              <a:spcAft>
                <a:spcPts val="1200"/>
              </a:spcAft>
              <a:buClr>
                <a:schemeClr val="tx2"/>
              </a:buClr>
              <a:buSzPct val="125000"/>
              <a:buFont typeface="Arial" charset="0"/>
              <a:buChar char="•"/>
              <a:defRPr/>
            </a:pPr>
            <a:r>
              <a:rPr lang="es-CO" sz="2600" b="1" noProof="0" dirty="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rPr>
              <a:t>Profundidad es diferente a desempeño</a:t>
            </a:r>
            <a:r>
              <a:rPr lang="es-CO" sz="2600" b="1" noProof="0" dirty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: </a:t>
            </a:r>
            <a:r>
              <a:rPr lang="es-CO" sz="2600" noProof="0" dirty="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rPr>
              <a:t>ResNet18 desde cero superó marginalmente a </a:t>
            </a:r>
            <a:r>
              <a:rPr lang="es-CO" sz="2600" noProof="0" dirty="0" err="1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rPr>
              <a:t>VGGMini</a:t>
            </a:r>
            <a:r>
              <a:rPr lang="es-CO" sz="2600" noProof="0" dirty="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rPr>
              <a:t> (+0.9 p.p.). Con aprox. 14k imágenes la profundidad no se aprovecha sin pesos </a:t>
            </a:r>
            <a:r>
              <a:rPr lang="es-CO" sz="2600" noProof="0" dirty="0" err="1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rPr>
              <a:t>preentrenados</a:t>
            </a:r>
            <a:r>
              <a:rPr lang="es-CO" sz="2600" noProof="0" dirty="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rPr>
              <a:t>.</a:t>
            </a:r>
          </a:p>
          <a:p>
            <a:pPr marL="914400" lvl="1" indent="-457200" algn="just">
              <a:lnSpc>
                <a:spcPts val="3600"/>
              </a:lnSpc>
              <a:spcAft>
                <a:spcPts val="1200"/>
              </a:spcAft>
              <a:buClr>
                <a:schemeClr val="tx2"/>
              </a:buClr>
              <a:buSzPct val="125000"/>
              <a:buFont typeface="Arial" charset="0"/>
              <a:buChar char="•"/>
              <a:defRPr/>
            </a:pPr>
            <a:r>
              <a:rPr lang="es-CO" sz="2600" noProof="0" dirty="0">
                <a:solidFill>
                  <a:schemeClr val="tx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 </a:t>
            </a:r>
            <a:r>
              <a:rPr lang="es-CO" sz="2600" b="1" noProof="0" dirty="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rPr>
              <a:t>Confusiones del </a:t>
            </a:r>
            <a:r>
              <a:rPr lang="es-CO" sz="2600" b="1" noProof="0" dirty="0" err="1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rPr>
              <a:t>dataset</a:t>
            </a:r>
            <a:r>
              <a:rPr lang="es-CO" sz="2600" b="1" noProof="0" dirty="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rPr>
              <a:t>:</a:t>
            </a:r>
            <a:r>
              <a:rPr lang="es-CO" sz="2600" noProof="0" dirty="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rPr>
              <a:t> los pares </a:t>
            </a:r>
            <a:r>
              <a:rPr lang="es-CO" sz="2600" i="1" noProof="0" dirty="0" err="1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rPr>
              <a:t>glacier-mountain</a:t>
            </a:r>
            <a:r>
              <a:rPr lang="es-CO" sz="2600" noProof="0" dirty="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rPr>
              <a:t> y </a:t>
            </a:r>
            <a:r>
              <a:rPr lang="es-CO" sz="2600" i="1" noProof="0" dirty="0" err="1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rPr>
              <a:t>buildings-street</a:t>
            </a:r>
            <a:r>
              <a:rPr lang="es-CO" sz="2600" noProof="0" dirty="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rPr>
              <a:t> son el cuello de botella; un </a:t>
            </a:r>
            <a:r>
              <a:rPr lang="es-CO" sz="2600" i="1" noProof="0" dirty="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rPr>
              <a:t>data </a:t>
            </a:r>
            <a:r>
              <a:rPr lang="es-CO" sz="2600" i="1" noProof="0" dirty="0" err="1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rPr>
              <a:t>augmentation</a:t>
            </a:r>
            <a:r>
              <a:rPr lang="es-CO" sz="2600" i="1" noProof="0" dirty="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rPr>
              <a:t> </a:t>
            </a:r>
            <a:r>
              <a:rPr lang="es-CO" sz="2600" noProof="0" dirty="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rPr>
              <a:t>más específica podría mitigarlas.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8657459" y="7268695"/>
            <a:ext cx="8073994" cy="461665"/>
          </a:xfrm>
          <a:prstGeom prst="rect">
            <a:avLst/>
          </a:prstGeom>
          <a:solidFill>
            <a:schemeClr val="bg1">
              <a:alpha val="42000"/>
            </a:schemeClr>
          </a:solidFill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buClr>
                <a:schemeClr val="tx2"/>
              </a:buClr>
              <a:defRPr/>
            </a:pPr>
            <a:r>
              <a:rPr lang="es-ES" sz="2400" i="1" dirty="0" err="1"/>
              <a:t>Accuracy</a:t>
            </a:r>
            <a:r>
              <a:rPr lang="es-ES" sz="2400" i="1" dirty="0"/>
              <a:t>  y F1-score por clase.</a:t>
            </a:r>
            <a:endParaRPr lang="en-US" sz="2400" i="1" dirty="0">
              <a:solidFill>
                <a:schemeClr val="tx1">
                  <a:lumMod val="75000"/>
                </a:schemeClr>
              </a:solidFill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44" name="Freeform 143"/>
          <p:cNvSpPr/>
          <p:nvPr/>
        </p:nvSpPr>
        <p:spPr>
          <a:xfrm>
            <a:off x="14852073" y="10838121"/>
            <a:ext cx="206902" cy="1374157"/>
          </a:xfrm>
          <a:custGeom>
            <a:avLst/>
            <a:gdLst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72768 h 1645920"/>
              <a:gd name="connsiteX5" fmla="*/ 65837 w 376733"/>
              <a:gd name="connsiteY5" fmla="*/ 1572768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72768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94713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87397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91055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71154 w 376733"/>
              <a:gd name="connsiteY5" fmla="*/ 1564474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87365"/>
              <a:gd name="connsiteY0" fmla="*/ 0 h 1645920"/>
              <a:gd name="connsiteX1" fmla="*/ 0 w 387365"/>
              <a:gd name="connsiteY1" fmla="*/ 0 h 1645920"/>
              <a:gd name="connsiteX2" fmla="*/ 0 w 387365"/>
              <a:gd name="connsiteY2" fmla="*/ 1645920 h 1645920"/>
              <a:gd name="connsiteX3" fmla="*/ 376733 w 387365"/>
              <a:gd name="connsiteY3" fmla="*/ 1645920 h 1645920"/>
              <a:gd name="connsiteX4" fmla="*/ 387365 w 387365"/>
              <a:gd name="connsiteY4" fmla="*/ 1564475 h 1645920"/>
              <a:gd name="connsiteX5" fmla="*/ 71154 w 387365"/>
              <a:gd name="connsiteY5" fmla="*/ 1564474 h 1645920"/>
              <a:gd name="connsiteX6" fmla="*/ 65837 w 387365"/>
              <a:gd name="connsiteY6" fmla="*/ 58521 h 1645920"/>
              <a:gd name="connsiteX7" fmla="*/ 336499 w 387365"/>
              <a:gd name="connsiteY7" fmla="*/ 58521 h 1645920"/>
              <a:gd name="connsiteX8" fmla="*/ 336499 w 387365"/>
              <a:gd name="connsiteY8" fmla="*/ 0 h 1645920"/>
              <a:gd name="connsiteX0" fmla="*/ 336499 w 405611"/>
              <a:gd name="connsiteY0" fmla="*/ 0 h 1645920"/>
              <a:gd name="connsiteX1" fmla="*/ 0 w 405611"/>
              <a:gd name="connsiteY1" fmla="*/ 0 h 1645920"/>
              <a:gd name="connsiteX2" fmla="*/ 0 w 405611"/>
              <a:gd name="connsiteY2" fmla="*/ 1645920 h 1645920"/>
              <a:gd name="connsiteX3" fmla="*/ 376733 w 405611"/>
              <a:gd name="connsiteY3" fmla="*/ 1645920 h 1645920"/>
              <a:gd name="connsiteX4" fmla="*/ 387365 w 405611"/>
              <a:gd name="connsiteY4" fmla="*/ 1564475 h 1645920"/>
              <a:gd name="connsiteX5" fmla="*/ 71154 w 405611"/>
              <a:gd name="connsiteY5" fmla="*/ 1564474 h 1645920"/>
              <a:gd name="connsiteX6" fmla="*/ 65837 w 405611"/>
              <a:gd name="connsiteY6" fmla="*/ 58521 h 1645920"/>
              <a:gd name="connsiteX7" fmla="*/ 405611 w 405611"/>
              <a:gd name="connsiteY7" fmla="*/ 63838 h 1645920"/>
              <a:gd name="connsiteX8" fmla="*/ 336499 w 405611"/>
              <a:gd name="connsiteY8" fmla="*/ 0 h 1645920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76733 w 405611"/>
              <a:gd name="connsiteY3" fmla="*/ 1651236 h 1651236"/>
              <a:gd name="connsiteX4" fmla="*/ 387365 w 405611"/>
              <a:gd name="connsiteY4" fmla="*/ 1569791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403314 w 405611"/>
              <a:gd name="connsiteY3" fmla="*/ 1651236 h 1651236"/>
              <a:gd name="connsiteX4" fmla="*/ 387365 w 405611"/>
              <a:gd name="connsiteY4" fmla="*/ 1569791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87365 w 405611"/>
              <a:gd name="connsiteY4" fmla="*/ 1569791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71490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9371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9371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9371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8736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44886"/>
              <a:gd name="connsiteX1" fmla="*/ 0 w 405611"/>
              <a:gd name="connsiteY1" fmla="*/ 5316 h 1644886"/>
              <a:gd name="connsiteX2" fmla="*/ 0 w 405611"/>
              <a:gd name="connsiteY2" fmla="*/ 1644886 h 1644886"/>
              <a:gd name="connsiteX3" fmla="*/ 387439 w 405611"/>
              <a:gd name="connsiteY3" fmla="*/ 1644886 h 1644886"/>
              <a:gd name="connsiteX4" fmla="*/ 387365 w 405611"/>
              <a:gd name="connsiteY4" fmla="*/ 1566616 h 1644886"/>
              <a:gd name="connsiteX5" fmla="*/ 71154 w 405611"/>
              <a:gd name="connsiteY5" fmla="*/ 1569790 h 1644886"/>
              <a:gd name="connsiteX6" fmla="*/ 65837 w 405611"/>
              <a:gd name="connsiteY6" fmla="*/ 63837 h 1644886"/>
              <a:gd name="connsiteX7" fmla="*/ 405611 w 405611"/>
              <a:gd name="connsiteY7" fmla="*/ 69154 h 1644886"/>
              <a:gd name="connsiteX8" fmla="*/ 400294 w 405611"/>
              <a:gd name="connsiteY8" fmla="*/ 0 h 1644886"/>
              <a:gd name="connsiteX0" fmla="*/ 400294 w 400294"/>
              <a:gd name="connsiteY0" fmla="*/ 0 h 1644886"/>
              <a:gd name="connsiteX1" fmla="*/ 0 w 400294"/>
              <a:gd name="connsiteY1" fmla="*/ 5316 h 1644886"/>
              <a:gd name="connsiteX2" fmla="*/ 0 w 400294"/>
              <a:gd name="connsiteY2" fmla="*/ 1644886 h 1644886"/>
              <a:gd name="connsiteX3" fmla="*/ 387439 w 400294"/>
              <a:gd name="connsiteY3" fmla="*/ 1644886 h 1644886"/>
              <a:gd name="connsiteX4" fmla="*/ 387365 w 400294"/>
              <a:gd name="connsiteY4" fmla="*/ 1566616 h 1644886"/>
              <a:gd name="connsiteX5" fmla="*/ 71154 w 400294"/>
              <a:gd name="connsiteY5" fmla="*/ 1569790 h 1644886"/>
              <a:gd name="connsiteX6" fmla="*/ 65837 w 400294"/>
              <a:gd name="connsiteY6" fmla="*/ 63837 h 1644886"/>
              <a:gd name="connsiteX7" fmla="*/ 386561 w 400294"/>
              <a:gd name="connsiteY7" fmla="*/ 78679 h 1644886"/>
              <a:gd name="connsiteX8" fmla="*/ 400294 w 400294"/>
              <a:gd name="connsiteY8" fmla="*/ 0 h 1644886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60662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414236"/>
              <a:gd name="connsiteY0" fmla="*/ 0 h 1641711"/>
              <a:gd name="connsiteX1" fmla="*/ 0 w 414236"/>
              <a:gd name="connsiteY1" fmla="*/ 2141 h 1641711"/>
              <a:gd name="connsiteX2" fmla="*/ 0 w 414236"/>
              <a:gd name="connsiteY2" fmla="*/ 1641711 h 1641711"/>
              <a:gd name="connsiteX3" fmla="*/ 387439 w 414236"/>
              <a:gd name="connsiteY3" fmla="*/ 1641711 h 1641711"/>
              <a:gd name="connsiteX4" fmla="*/ 379172 w 414236"/>
              <a:gd name="connsiteY4" fmla="*/ 1600163 h 1641711"/>
              <a:gd name="connsiteX5" fmla="*/ 387365 w 414236"/>
              <a:gd name="connsiteY5" fmla="*/ 1563441 h 1641711"/>
              <a:gd name="connsiteX6" fmla="*/ 71154 w 414236"/>
              <a:gd name="connsiteY6" fmla="*/ 1566615 h 1641711"/>
              <a:gd name="connsiteX7" fmla="*/ 65837 w 414236"/>
              <a:gd name="connsiteY7" fmla="*/ 76537 h 1641711"/>
              <a:gd name="connsiteX8" fmla="*/ 386561 w 414236"/>
              <a:gd name="connsiteY8" fmla="*/ 75504 h 1641711"/>
              <a:gd name="connsiteX9" fmla="*/ 384419 w 414236"/>
              <a:gd name="connsiteY9" fmla="*/ 0 h 1641711"/>
              <a:gd name="connsiteX0" fmla="*/ 384419 w 431494"/>
              <a:gd name="connsiteY0" fmla="*/ 0 h 1641711"/>
              <a:gd name="connsiteX1" fmla="*/ 0 w 431494"/>
              <a:gd name="connsiteY1" fmla="*/ 2141 h 1641711"/>
              <a:gd name="connsiteX2" fmla="*/ 0 w 431494"/>
              <a:gd name="connsiteY2" fmla="*/ 1641711 h 1641711"/>
              <a:gd name="connsiteX3" fmla="*/ 387439 w 431494"/>
              <a:gd name="connsiteY3" fmla="*/ 1641711 h 1641711"/>
              <a:gd name="connsiteX4" fmla="*/ 387365 w 431494"/>
              <a:gd name="connsiteY4" fmla="*/ 1563441 h 1641711"/>
              <a:gd name="connsiteX5" fmla="*/ 71154 w 431494"/>
              <a:gd name="connsiteY5" fmla="*/ 1566615 h 1641711"/>
              <a:gd name="connsiteX6" fmla="*/ 65837 w 431494"/>
              <a:gd name="connsiteY6" fmla="*/ 76537 h 1641711"/>
              <a:gd name="connsiteX7" fmla="*/ 386561 w 431494"/>
              <a:gd name="connsiteY7" fmla="*/ 75504 h 1641711"/>
              <a:gd name="connsiteX8" fmla="*/ 384419 w 431494"/>
              <a:gd name="connsiteY8" fmla="*/ 0 h 1641711"/>
              <a:gd name="connsiteX0" fmla="*/ 384419 w 409039"/>
              <a:gd name="connsiteY0" fmla="*/ 0 h 1642067"/>
              <a:gd name="connsiteX1" fmla="*/ 0 w 409039"/>
              <a:gd name="connsiteY1" fmla="*/ 2141 h 1642067"/>
              <a:gd name="connsiteX2" fmla="*/ 0 w 409039"/>
              <a:gd name="connsiteY2" fmla="*/ 1641711 h 1642067"/>
              <a:gd name="connsiteX3" fmla="*/ 387439 w 409039"/>
              <a:gd name="connsiteY3" fmla="*/ 1641711 h 1642067"/>
              <a:gd name="connsiteX4" fmla="*/ 387365 w 409039"/>
              <a:gd name="connsiteY4" fmla="*/ 1563441 h 1642067"/>
              <a:gd name="connsiteX5" fmla="*/ 71154 w 409039"/>
              <a:gd name="connsiteY5" fmla="*/ 1566615 h 1642067"/>
              <a:gd name="connsiteX6" fmla="*/ 65837 w 409039"/>
              <a:gd name="connsiteY6" fmla="*/ 76537 h 1642067"/>
              <a:gd name="connsiteX7" fmla="*/ 386561 w 409039"/>
              <a:gd name="connsiteY7" fmla="*/ 75504 h 1642067"/>
              <a:gd name="connsiteX8" fmla="*/ 384419 w 409039"/>
              <a:gd name="connsiteY8" fmla="*/ 0 h 1642067"/>
              <a:gd name="connsiteX0" fmla="*/ 384419 w 410804"/>
              <a:gd name="connsiteY0" fmla="*/ 0 h 1641711"/>
              <a:gd name="connsiteX1" fmla="*/ 0 w 410804"/>
              <a:gd name="connsiteY1" fmla="*/ 2141 h 1641711"/>
              <a:gd name="connsiteX2" fmla="*/ 0 w 410804"/>
              <a:gd name="connsiteY2" fmla="*/ 1641711 h 1641711"/>
              <a:gd name="connsiteX3" fmla="*/ 387439 w 410804"/>
              <a:gd name="connsiteY3" fmla="*/ 1641711 h 1641711"/>
              <a:gd name="connsiteX4" fmla="*/ 387365 w 410804"/>
              <a:gd name="connsiteY4" fmla="*/ 1563441 h 1641711"/>
              <a:gd name="connsiteX5" fmla="*/ 71154 w 410804"/>
              <a:gd name="connsiteY5" fmla="*/ 1566615 h 1641711"/>
              <a:gd name="connsiteX6" fmla="*/ 65837 w 410804"/>
              <a:gd name="connsiteY6" fmla="*/ 76537 h 1641711"/>
              <a:gd name="connsiteX7" fmla="*/ 386561 w 410804"/>
              <a:gd name="connsiteY7" fmla="*/ 75504 h 1641711"/>
              <a:gd name="connsiteX8" fmla="*/ 384419 w 410804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400294 w 400294"/>
              <a:gd name="connsiteY0" fmla="*/ 0 h 1644886"/>
              <a:gd name="connsiteX1" fmla="*/ 0 w 400294"/>
              <a:gd name="connsiteY1" fmla="*/ 5316 h 1644886"/>
              <a:gd name="connsiteX2" fmla="*/ 0 w 400294"/>
              <a:gd name="connsiteY2" fmla="*/ 1644886 h 1644886"/>
              <a:gd name="connsiteX3" fmla="*/ 387439 w 400294"/>
              <a:gd name="connsiteY3" fmla="*/ 1644886 h 1644886"/>
              <a:gd name="connsiteX4" fmla="*/ 387365 w 400294"/>
              <a:gd name="connsiteY4" fmla="*/ 1566616 h 1644886"/>
              <a:gd name="connsiteX5" fmla="*/ 71154 w 400294"/>
              <a:gd name="connsiteY5" fmla="*/ 1569790 h 1644886"/>
              <a:gd name="connsiteX6" fmla="*/ 65837 w 400294"/>
              <a:gd name="connsiteY6" fmla="*/ 79712 h 1644886"/>
              <a:gd name="connsiteX7" fmla="*/ 386561 w 400294"/>
              <a:gd name="connsiteY7" fmla="*/ 78679 h 1644886"/>
              <a:gd name="connsiteX8" fmla="*/ 400294 w 400294"/>
              <a:gd name="connsiteY8" fmla="*/ 0 h 1644886"/>
              <a:gd name="connsiteX0" fmla="*/ 37806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7806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7439" h="1641711">
                <a:moveTo>
                  <a:pt x="384419" y="0"/>
                </a:moveTo>
                <a:lnTo>
                  <a:pt x="0" y="2141"/>
                </a:lnTo>
                <a:lnTo>
                  <a:pt x="0" y="1641711"/>
                </a:lnTo>
                <a:lnTo>
                  <a:pt x="387439" y="1641711"/>
                </a:lnTo>
                <a:cubicBezTo>
                  <a:pt x="387414" y="1615621"/>
                  <a:pt x="387390" y="1589531"/>
                  <a:pt x="387365" y="1563441"/>
                </a:cubicBezTo>
                <a:lnTo>
                  <a:pt x="71154" y="1566615"/>
                </a:lnTo>
                <a:cubicBezTo>
                  <a:pt x="68495" y="821576"/>
                  <a:pt x="68495" y="821576"/>
                  <a:pt x="65837" y="76537"/>
                </a:cubicBezTo>
                <a:lnTo>
                  <a:pt x="386561" y="75504"/>
                </a:lnTo>
                <a:lnTo>
                  <a:pt x="384419" y="0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cxnSp>
        <p:nvCxnSpPr>
          <p:cNvPr id="99" name="Straight Connector 98"/>
          <p:cNvCxnSpPr/>
          <p:nvPr/>
        </p:nvCxnSpPr>
        <p:spPr bwMode="auto">
          <a:xfrm flipV="1">
            <a:off x="28347550" y="10939630"/>
            <a:ext cx="8229600" cy="0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100" name="Straight Connector 99"/>
          <p:cNvCxnSpPr/>
          <p:nvPr/>
        </p:nvCxnSpPr>
        <p:spPr bwMode="auto">
          <a:xfrm>
            <a:off x="9712220" y="16099930"/>
            <a:ext cx="8250243" cy="0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101" name="Straight Connector 100"/>
          <p:cNvCxnSpPr/>
          <p:nvPr/>
        </p:nvCxnSpPr>
        <p:spPr bwMode="auto">
          <a:xfrm>
            <a:off x="836849" y="8802244"/>
            <a:ext cx="8104851" cy="0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102" name="Straight Connector 101"/>
          <p:cNvCxnSpPr/>
          <p:nvPr/>
        </p:nvCxnSpPr>
        <p:spPr bwMode="auto">
          <a:xfrm flipV="1">
            <a:off x="28047367" y="17011649"/>
            <a:ext cx="8229600" cy="0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106" name="Straight Connector 105"/>
          <p:cNvCxnSpPr/>
          <p:nvPr/>
        </p:nvCxnSpPr>
        <p:spPr bwMode="auto">
          <a:xfrm>
            <a:off x="9787191" y="10130738"/>
            <a:ext cx="8120098" cy="0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pic>
        <p:nvPicPr>
          <p:cNvPr id="7" name="Imagen 6">
            <a:extLst>
              <a:ext uri="{FF2B5EF4-FFF2-40B4-BE49-F238E27FC236}">
                <a16:creationId xmlns:a16="http://schemas.microsoft.com/office/drawing/2014/main" id="{E44F5102-B104-925A-57C4-3A41C84DE7D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0700" b="31722"/>
          <a:stretch>
            <a:fillRect/>
          </a:stretch>
        </p:blipFill>
        <p:spPr>
          <a:xfrm>
            <a:off x="2043952" y="14114108"/>
            <a:ext cx="4518213" cy="4172030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314B3CCE-6E0B-F415-5732-E0B61D4D9E3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8176"/>
          <a:stretch>
            <a:fillRect/>
          </a:stretch>
        </p:blipFill>
        <p:spPr>
          <a:xfrm>
            <a:off x="9387521" y="10209970"/>
            <a:ext cx="8919438" cy="5433327"/>
          </a:xfrm>
          <a:prstGeom prst="rect">
            <a:avLst/>
          </a:prstGeom>
        </p:spPr>
      </p:pic>
      <p:sp>
        <p:nvSpPr>
          <p:cNvPr id="21" name="TextBox 41">
            <a:extLst>
              <a:ext uri="{FF2B5EF4-FFF2-40B4-BE49-F238E27FC236}">
                <a16:creationId xmlns:a16="http://schemas.microsoft.com/office/drawing/2014/main" id="{588F0F27-B7E1-8256-9B35-29ECD68AD6D2}"/>
              </a:ext>
            </a:extLst>
          </p:cNvPr>
          <p:cNvSpPr txBox="1"/>
          <p:nvPr/>
        </p:nvSpPr>
        <p:spPr>
          <a:xfrm>
            <a:off x="18717444" y="11818585"/>
            <a:ext cx="8919438" cy="1437830"/>
          </a:xfrm>
          <a:prstGeom prst="rect">
            <a:avLst/>
          </a:prstGeom>
          <a:solidFill>
            <a:schemeClr val="bg1">
              <a:alpha val="42000"/>
            </a:schemeClr>
          </a:solidFill>
        </p:spPr>
        <p:txBody>
          <a:bodyPr wrap="square">
            <a:spAutoFit/>
          </a:bodyPr>
          <a:lstStyle/>
          <a:p>
            <a:pPr algn="just">
              <a:lnSpc>
                <a:spcPts val="3600"/>
              </a:lnSpc>
              <a:defRPr/>
            </a:pPr>
            <a:r>
              <a:rPr lang="es-CO" sz="2600" noProof="0" dirty="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rPr>
              <a:t>Las confusiones principales son </a:t>
            </a:r>
            <a:r>
              <a:rPr lang="es-CO" sz="2600" i="1" noProof="0" dirty="0" err="1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rPr>
              <a:t>glacier</a:t>
            </a:r>
            <a:r>
              <a:rPr lang="es-CO" sz="2600" i="1" dirty="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rPr>
              <a:t>-</a:t>
            </a:r>
            <a:r>
              <a:rPr lang="es-CO" sz="2600" i="1" noProof="0" dirty="0" err="1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rPr>
              <a:t>mountain</a:t>
            </a:r>
            <a:r>
              <a:rPr lang="es-CO" sz="2600" noProof="0" dirty="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rPr>
              <a:t> (93 casos cruzados) y </a:t>
            </a:r>
            <a:r>
              <a:rPr lang="es-CO" sz="2600" i="1" noProof="0" dirty="0" err="1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rPr>
              <a:t>street-buildings</a:t>
            </a:r>
            <a:r>
              <a:rPr lang="es-CO" sz="2600" noProof="0" dirty="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rPr>
              <a:t> (58 casos), reflejando similitudes visuales reales de la base de datos.</a:t>
            </a:r>
            <a:endParaRPr lang="en-US" sz="2600" dirty="0">
              <a:solidFill>
                <a:schemeClr val="tx1">
                  <a:lumMod val="75000"/>
                </a:schemeClr>
              </a:solidFill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28" name="Imagen 27">
            <a:extLst>
              <a:ext uri="{FF2B5EF4-FFF2-40B4-BE49-F238E27FC236}">
                <a16:creationId xmlns:a16="http://schemas.microsoft.com/office/drawing/2014/main" id="{D0164CED-B929-C934-44AF-D3709DE1B6F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5027"/>
          <a:stretch>
            <a:fillRect/>
          </a:stretch>
        </p:blipFill>
        <p:spPr>
          <a:xfrm>
            <a:off x="19972344" y="13256415"/>
            <a:ext cx="6157799" cy="5170702"/>
          </a:xfrm>
          <a:prstGeom prst="rect">
            <a:avLst/>
          </a:prstGeom>
        </p:spPr>
      </p:pic>
      <p:pic>
        <p:nvPicPr>
          <p:cNvPr id="31" name="Imagen 30">
            <a:extLst>
              <a:ext uri="{FF2B5EF4-FFF2-40B4-BE49-F238E27FC236}">
                <a16:creationId xmlns:a16="http://schemas.microsoft.com/office/drawing/2014/main" id="{83886B18-3F65-C0EB-B68C-282585168E2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047367" y="11299894"/>
            <a:ext cx="8919438" cy="4903083"/>
          </a:xfrm>
          <a:prstGeom prst="rect">
            <a:avLst/>
          </a:prstGeom>
        </p:spPr>
      </p:pic>
      <p:pic>
        <p:nvPicPr>
          <p:cNvPr id="38" name="Imagen 37">
            <a:extLst>
              <a:ext uri="{FF2B5EF4-FFF2-40B4-BE49-F238E27FC236}">
                <a16:creationId xmlns:a16="http://schemas.microsoft.com/office/drawing/2014/main" id="{88F98455-A9A9-3C4D-6967-DFAC5407CA99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17477" b="6814"/>
          <a:stretch>
            <a:fillRect/>
          </a:stretch>
        </p:blipFill>
        <p:spPr>
          <a:xfrm>
            <a:off x="18731707" y="3856676"/>
            <a:ext cx="8853896" cy="3393604"/>
          </a:xfrm>
          <a:prstGeom prst="rect">
            <a:avLst/>
          </a:prstGeom>
        </p:spPr>
      </p:pic>
      <p:sp>
        <p:nvSpPr>
          <p:cNvPr id="39" name="TextBox 51">
            <a:extLst>
              <a:ext uri="{FF2B5EF4-FFF2-40B4-BE49-F238E27FC236}">
                <a16:creationId xmlns:a16="http://schemas.microsoft.com/office/drawing/2014/main" id="{6A3E0CE2-945E-13A0-FBA0-A90F9DDC025F}"/>
              </a:ext>
            </a:extLst>
          </p:cNvPr>
          <p:cNvSpPr txBox="1"/>
          <p:nvPr/>
        </p:nvSpPr>
        <p:spPr>
          <a:xfrm>
            <a:off x="266060" y="18378814"/>
            <a:ext cx="8929387" cy="461665"/>
          </a:xfrm>
          <a:prstGeom prst="rect">
            <a:avLst/>
          </a:prstGeom>
          <a:solidFill>
            <a:schemeClr val="bg1">
              <a:alpha val="42000"/>
            </a:schemeClr>
          </a:solidFill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buClr>
                <a:schemeClr val="tx2"/>
              </a:buClr>
              <a:defRPr/>
            </a:pPr>
            <a:r>
              <a:rPr lang="es-ES" sz="2400" i="1" dirty="0"/>
              <a:t>Ejemplos representativos de las seis clases de la base de datos.</a:t>
            </a:r>
            <a:endParaRPr lang="en-US" sz="2400" i="1" dirty="0">
              <a:solidFill>
                <a:schemeClr val="tx1">
                  <a:lumMod val="75000"/>
                </a:schemeClr>
              </a:solidFill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40" name="TextBox 51">
            <a:extLst>
              <a:ext uri="{FF2B5EF4-FFF2-40B4-BE49-F238E27FC236}">
                <a16:creationId xmlns:a16="http://schemas.microsoft.com/office/drawing/2014/main" id="{02F2C11C-8E48-6082-210C-1CF793E544BD}"/>
              </a:ext>
            </a:extLst>
          </p:cNvPr>
          <p:cNvSpPr txBox="1"/>
          <p:nvPr/>
        </p:nvSpPr>
        <p:spPr>
          <a:xfrm>
            <a:off x="9516399" y="15475805"/>
            <a:ext cx="8797080" cy="461665"/>
          </a:xfrm>
          <a:prstGeom prst="rect">
            <a:avLst/>
          </a:prstGeom>
          <a:solidFill>
            <a:schemeClr val="bg1">
              <a:alpha val="42000"/>
            </a:schemeClr>
          </a:solidFill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buClr>
                <a:schemeClr val="tx2"/>
              </a:buClr>
              <a:defRPr/>
            </a:pPr>
            <a:r>
              <a:rPr lang="es-ES" sz="2400" i="1" dirty="0"/>
              <a:t>Distribución de clases por conjunto de entrenamiento y prueba</a:t>
            </a:r>
            <a:endParaRPr lang="en-US" sz="2400" i="1" dirty="0">
              <a:solidFill>
                <a:schemeClr val="tx1">
                  <a:lumMod val="75000"/>
                </a:schemeClr>
              </a:solidFill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46" name="Imagen 45">
            <a:extLst>
              <a:ext uri="{FF2B5EF4-FFF2-40B4-BE49-F238E27FC236}">
                <a16:creationId xmlns:a16="http://schemas.microsoft.com/office/drawing/2014/main" id="{1E81DD10-D05D-0D76-E74D-E4AFF4CC9F6F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8129"/>
          <a:stretch>
            <a:fillRect/>
          </a:stretch>
        </p:blipFill>
        <p:spPr>
          <a:xfrm>
            <a:off x="19821864" y="7918692"/>
            <a:ext cx="6169288" cy="3381202"/>
          </a:xfrm>
          <a:prstGeom prst="rect">
            <a:avLst/>
          </a:prstGeom>
        </p:spPr>
      </p:pic>
      <p:sp>
        <p:nvSpPr>
          <p:cNvPr id="48" name="TextBox 51">
            <a:extLst>
              <a:ext uri="{FF2B5EF4-FFF2-40B4-BE49-F238E27FC236}">
                <a16:creationId xmlns:a16="http://schemas.microsoft.com/office/drawing/2014/main" id="{9BD061B1-2961-0FFE-DB99-3ED6454929E6}"/>
              </a:ext>
            </a:extLst>
          </p:cNvPr>
          <p:cNvSpPr txBox="1"/>
          <p:nvPr/>
        </p:nvSpPr>
        <p:spPr>
          <a:xfrm>
            <a:off x="18731706" y="11184116"/>
            <a:ext cx="8073994" cy="461665"/>
          </a:xfrm>
          <a:prstGeom prst="rect">
            <a:avLst/>
          </a:prstGeom>
          <a:solidFill>
            <a:schemeClr val="bg1">
              <a:alpha val="42000"/>
            </a:schemeClr>
          </a:solidFill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buClr>
                <a:schemeClr val="tx2"/>
              </a:buClr>
              <a:defRPr/>
            </a:pPr>
            <a:r>
              <a:rPr lang="es-ES" sz="2400" i="1" dirty="0"/>
              <a:t>Comparación de </a:t>
            </a:r>
            <a:r>
              <a:rPr lang="es-ES" sz="2400" i="1" dirty="0" err="1"/>
              <a:t>Accuracy</a:t>
            </a:r>
            <a:r>
              <a:rPr lang="es-ES" sz="2400" i="1" dirty="0"/>
              <a:t> entre modelos.</a:t>
            </a:r>
            <a:endParaRPr lang="en-US" sz="2400" i="1" dirty="0">
              <a:solidFill>
                <a:schemeClr val="tx1">
                  <a:lumMod val="75000"/>
                </a:schemeClr>
              </a:solidFill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49" name="TextBox 51">
            <a:extLst>
              <a:ext uri="{FF2B5EF4-FFF2-40B4-BE49-F238E27FC236}">
                <a16:creationId xmlns:a16="http://schemas.microsoft.com/office/drawing/2014/main" id="{5454366E-7CEC-AA9E-2940-9F11BA1804DE}"/>
              </a:ext>
            </a:extLst>
          </p:cNvPr>
          <p:cNvSpPr txBox="1"/>
          <p:nvPr/>
        </p:nvSpPr>
        <p:spPr>
          <a:xfrm>
            <a:off x="18717444" y="18374882"/>
            <a:ext cx="8073994" cy="461665"/>
          </a:xfrm>
          <a:prstGeom prst="rect">
            <a:avLst/>
          </a:prstGeom>
          <a:solidFill>
            <a:schemeClr val="bg1">
              <a:alpha val="42000"/>
            </a:schemeClr>
          </a:solidFill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buClr>
                <a:schemeClr val="tx2"/>
              </a:buClr>
              <a:defRPr/>
            </a:pPr>
            <a:r>
              <a:rPr lang="es-ES" sz="2400" i="1" dirty="0"/>
              <a:t>Matriz de confusión ResNet18 Pretrained-</a:t>
            </a:r>
            <a:endParaRPr lang="en-US" sz="2400" i="1" dirty="0">
              <a:solidFill>
                <a:schemeClr val="tx1">
                  <a:lumMod val="75000"/>
                </a:schemeClr>
              </a:solidFill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50" name="TextBox 51">
            <a:extLst>
              <a:ext uri="{FF2B5EF4-FFF2-40B4-BE49-F238E27FC236}">
                <a16:creationId xmlns:a16="http://schemas.microsoft.com/office/drawing/2014/main" id="{23FAAD45-07B9-63DA-BA37-4836AC20057F}"/>
              </a:ext>
            </a:extLst>
          </p:cNvPr>
          <p:cNvSpPr txBox="1"/>
          <p:nvPr/>
        </p:nvSpPr>
        <p:spPr>
          <a:xfrm>
            <a:off x="28047367" y="16099930"/>
            <a:ext cx="8073994" cy="461665"/>
          </a:xfrm>
          <a:prstGeom prst="rect">
            <a:avLst/>
          </a:prstGeom>
          <a:solidFill>
            <a:schemeClr val="bg1">
              <a:alpha val="42000"/>
            </a:schemeClr>
          </a:solidFill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buClr>
                <a:schemeClr val="tx2"/>
              </a:buClr>
              <a:defRPr/>
            </a:pPr>
            <a:r>
              <a:rPr lang="fr-FR" sz="2400" i="1" dirty="0" err="1"/>
              <a:t>Accuracy</a:t>
            </a:r>
            <a:r>
              <a:rPr lang="fr-FR" sz="2400" i="1" dirty="0"/>
              <a:t> train – validation: ResNet18 </a:t>
            </a:r>
            <a:r>
              <a:rPr lang="fr-FR" sz="2400" i="1" dirty="0" err="1"/>
              <a:t>Pretrained</a:t>
            </a:r>
            <a:endParaRPr lang="fr-FR" sz="2400" i="1" dirty="0"/>
          </a:p>
        </p:txBody>
      </p:sp>
      <p:cxnSp>
        <p:nvCxnSpPr>
          <p:cNvPr id="51" name="Straight Connector 101">
            <a:extLst>
              <a:ext uri="{FF2B5EF4-FFF2-40B4-BE49-F238E27FC236}">
                <a16:creationId xmlns:a16="http://schemas.microsoft.com/office/drawing/2014/main" id="{6577F38F-ED65-8A2B-DE70-241A7B78BF67}"/>
              </a:ext>
            </a:extLst>
          </p:cNvPr>
          <p:cNvCxnSpPr/>
          <p:nvPr/>
        </p:nvCxnSpPr>
        <p:spPr bwMode="auto">
          <a:xfrm flipV="1">
            <a:off x="18791708" y="11797293"/>
            <a:ext cx="8229600" cy="0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36028418"/>
      </p:ext>
    </p:extLst>
  </p:cSld>
  <p:clrMapOvr>
    <a:masterClrMapping/>
  </p:clrMapOvr>
</p:sld>
</file>

<file path=ppt/theme/theme1.xml><?xml version="1.0" encoding="utf-8"?>
<a:theme xmlns:a="http://schemas.openxmlformats.org/drawingml/2006/main" name="1_Research Poster Templat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UB Powerpoint Theme</Template>
  <TotalTime>582</TotalTime>
  <Words>432</Words>
  <Application>Microsoft Office PowerPoint</Application>
  <PresentationFormat>Personalizado</PresentationFormat>
  <Paragraphs>30</Paragraphs>
  <Slides>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4" baseType="lpstr">
      <vt:lpstr>Arial</vt:lpstr>
      <vt:lpstr>Calibri</vt:lpstr>
      <vt:lpstr>1_Research Poster Template</vt:lpstr>
      <vt:lpstr>Presentación de PowerPoint</vt:lpstr>
    </vt:vector>
  </TitlesOfParts>
  <Manager/>
  <Company>© University at Buffalo</Company>
  <LinksUpToDate>false</LinksUpToDate>
  <SharedDoc>false</SharedDoc>
  <HyperlinkBase>www.buffalo.edu/brand</HyperlinkBase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UB Research Poster Template</dc:title>
  <dc:subject/>
  <dc:creator>Constanza Torres</dc:creator>
  <cp:keywords/>
  <dc:description/>
  <cp:lastModifiedBy>Sebastian Emilio Henao Bedoya</cp:lastModifiedBy>
  <cp:revision>66</cp:revision>
  <cp:lastPrinted>2016-09-29T19:48:31Z</cp:lastPrinted>
  <dcterms:created xsi:type="dcterms:W3CDTF">2016-09-29T18:43:16Z</dcterms:created>
  <dcterms:modified xsi:type="dcterms:W3CDTF">2026-05-23T13:01:15Z</dcterms:modified>
  <cp:category/>
</cp:coreProperties>
</file>